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Montserrat SemiBold"/>
      <p:regular r:id="rId29"/>
      <p:bold r:id="rId30"/>
      <p:italic r:id="rId31"/>
      <p:boldItalic r:id="rId32"/>
    </p:embeddedFont>
    <p:embeddedFont>
      <p:font typeface="Proxima Nova"/>
      <p:regular r:id="rId33"/>
      <p:bold r:id="rId34"/>
      <p:italic r:id="rId35"/>
      <p:boldItalic r:id="rId36"/>
    </p:embeddedFont>
    <p:embeddedFont>
      <p:font typeface="Montserrat"/>
      <p:regular r:id="rId37"/>
      <p:bold r:id="rId38"/>
      <p:italic r:id="rId39"/>
      <p:boldItalic r:id="rId40"/>
    </p:embeddedFont>
    <p:embeddedFont>
      <p:font typeface="Montserrat Medium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5" roundtripDataSignature="AMtx7mjb8TlGd/jGkiKvBb2CW+DGnNFE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Italic.fntdata"/><Relationship Id="rId20" Type="http://schemas.openxmlformats.org/officeDocument/2006/relationships/slide" Target="slides/slide15.xml"/><Relationship Id="rId42" Type="http://schemas.openxmlformats.org/officeDocument/2006/relationships/font" Target="fonts/MontserratMedium-bold.fntdata"/><Relationship Id="rId41" Type="http://schemas.openxmlformats.org/officeDocument/2006/relationships/font" Target="fonts/MontserratMedium-regular.fntdata"/><Relationship Id="rId22" Type="http://schemas.openxmlformats.org/officeDocument/2006/relationships/slide" Target="slides/slide17.xml"/><Relationship Id="rId44" Type="http://schemas.openxmlformats.org/officeDocument/2006/relationships/font" Target="fonts/MontserratMedium-boldItalic.fntdata"/><Relationship Id="rId21" Type="http://schemas.openxmlformats.org/officeDocument/2006/relationships/slide" Target="slides/slide16.xml"/><Relationship Id="rId43" Type="http://schemas.openxmlformats.org/officeDocument/2006/relationships/font" Target="fonts/MontserratMedium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SemiBold-italic.fntdata"/><Relationship Id="rId30" Type="http://schemas.openxmlformats.org/officeDocument/2006/relationships/font" Target="fonts/MontserratSemiBold-bold.fntdata"/><Relationship Id="rId11" Type="http://schemas.openxmlformats.org/officeDocument/2006/relationships/slide" Target="slides/slide6.xml"/><Relationship Id="rId33" Type="http://schemas.openxmlformats.org/officeDocument/2006/relationships/font" Target="fonts/ProximaNova-regular.fntdata"/><Relationship Id="rId10" Type="http://schemas.openxmlformats.org/officeDocument/2006/relationships/slide" Target="slides/slide5.xml"/><Relationship Id="rId32" Type="http://schemas.openxmlformats.org/officeDocument/2006/relationships/font" Target="fonts/MontserratSemiBold-boldItalic.fntdata"/><Relationship Id="rId13" Type="http://schemas.openxmlformats.org/officeDocument/2006/relationships/slide" Target="slides/slide8.xml"/><Relationship Id="rId35" Type="http://schemas.openxmlformats.org/officeDocument/2006/relationships/font" Target="fonts/ProximaNova-italic.fntdata"/><Relationship Id="rId12" Type="http://schemas.openxmlformats.org/officeDocument/2006/relationships/slide" Target="slides/slide7.xml"/><Relationship Id="rId34" Type="http://schemas.openxmlformats.org/officeDocument/2006/relationships/font" Target="fonts/ProximaNova-bold.fntdata"/><Relationship Id="rId15" Type="http://schemas.openxmlformats.org/officeDocument/2006/relationships/slide" Target="slides/slide10.xml"/><Relationship Id="rId37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36" Type="http://schemas.openxmlformats.org/officeDocument/2006/relationships/font" Target="fonts/ProximaNova-boldItalic.fntdata"/><Relationship Id="rId17" Type="http://schemas.openxmlformats.org/officeDocument/2006/relationships/slide" Target="slides/slide12.xml"/><Relationship Id="rId39" Type="http://schemas.openxmlformats.org/officeDocument/2006/relationships/font" Target="fonts/Montserrat-italic.fntdata"/><Relationship Id="rId16" Type="http://schemas.openxmlformats.org/officeDocument/2006/relationships/slide" Target="slides/slide11.xml"/><Relationship Id="rId38" Type="http://schemas.openxmlformats.org/officeDocument/2006/relationships/font" Target="fonts/Montserrat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11f6ab4408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211f6ab44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11f7292431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211f729243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11f7292431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211f729243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11f7292431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211f729243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11f7292431_0_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211f729243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11f7292431_0_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211f729243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11f7292431_0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211f7292431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11f7292431_0_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211f729243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15442b3f3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215442b3f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15442b3f3c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215442b3f3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154c5e2467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2154c5e246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154c5e2467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2154c5e246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154c5e2467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2154c5e246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154c5e2467_0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2154c5e246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154c5e2467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2154c5e246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154c5e2467_0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2154c5e246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11f7292431_0_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211f7292431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.jp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.jp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.jpg"/><Relationship Id="rId5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.jp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2.jp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2.jpg"/><Relationship Id="rId5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2.jpg"/><Relationship Id="rId5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2.jpg"/><Relationship Id="rId5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2.jpg"/><Relationship Id="rId5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2.jpg"/><Relationship Id="rId5" Type="http://schemas.openxmlformats.org/officeDocument/2006/relationships/image" Target="../media/image3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2.jpg"/><Relationship Id="rId5" Type="http://schemas.openxmlformats.org/officeDocument/2006/relationships/image" Target="../media/image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2.jpg"/><Relationship Id="rId5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2.jpg"/><Relationship Id="rId5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2.jpg"/><Relationship Id="rId5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19.png"/><Relationship Id="rId5" Type="http://schemas.openxmlformats.org/officeDocument/2006/relationships/image" Target="../media/image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2.jpg"/><Relationship Id="rId5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2.jpg"/><Relationship Id="rId5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.png"/><Relationship Id="rId10" Type="http://schemas.openxmlformats.org/officeDocument/2006/relationships/hyperlink" Target="https://www.facebook.com/AYIGROUP" TargetMode="External"/><Relationship Id="rId13" Type="http://schemas.openxmlformats.org/officeDocument/2006/relationships/image" Target="../media/image27.png"/><Relationship Id="rId12" Type="http://schemas.openxmlformats.org/officeDocument/2006/relationships/hyperlink" Target="https://www.instagram.com/ayi.group/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9" Type="http://schemas.openxmlformats.org/officeDocument/2006/relationships/image" Target="../media/image30.png"/><Relationship Id="rId15" Type="http://schemas.openxmlformats.org/officeDocument/2006/relationships/image" Target="../media/image21.png"/><Relationship Id="rId14" Type="http://schemas.openxmlformats.org/officeDocument/2006/relationships/hyperlink" Target="https://www.linkedin.com/company/ayigroup/" TargetMode="External"/><Relationship Id="rId17" Type="http://schemas.openxmlformats.org/officeDocument/2006/relationships/image" Target="../media/image34.png"/><Relationship Id="rId16" Type="http://schemas.openxmlformats.org/officeDocument/2006/relationships/hyperlink" Target="https://open.spotify.com/show/2WzJUSpRTR1SYRATYZ4el5" TargetMode="External"/><Relationship Id="rId5" Type="http://schemas.openxmlformats.org/officeDocument/2006/relationships/image" Target="../media/image6.png"/><Relationship Id="rId19" Type="http://schemas.openxmlformats.org/officeDocument/2006/relationships/image" Target="../media/image28.png"/><Relationship Id="rId6" Type="http://schemas.openxmlformats.org/officeDocument/2006/relationships/hyperlink" Target="http://ayi.group" TargetMode="External"/><Relationship Id="rId18" Type="http://schemas.openxmlformats.org/officeDocument/2006/relationships/hyperlink" Target="https://twitter.com/ayi_group" TargetMode="External"/><Relationship Id="rId7" Type="http://schemas.openxmlformats.org/officeDocument/2006/relationships/image" Target="../media/image32.png"/><Relationship Id="rId8" Type="http://schemas.openxmlformats.org/officeDocument/2006/relationships/hyperlink" Target="https://www.youtube.com/channel/UCVp79aoTmjW500iAkjRT9D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/>
        </p:nvSpPr>
        <p:spPr>
          <a:xfrm>
            <a:off x="480375" y="1725000"/>
            <a:ext cx="83508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419" sz="23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Capacitación de Python</a:t>
            </a:r>
            <a:endParaRPr b="0" i="0" sz="23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457200" lvl="0" marL="18288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457200" lvl="0" marL="18288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-419" sz="2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Instructor: </a:t>
            </a:r>
            <a:r>
              <a:rPr b="0" i="0" lang="es-419" sz="21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Sergio Garzón</a:t>
            </a:r>
            <a:endParaRPr b="0" i="0" sz="1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7338" y="3508336"/>
            <a:ext cx="891486" cy="1047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8357" y="3958800"/>
            <a:ext cx="1843088" cy="325856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"/>
          <p:cNvSpPr txBox="1"/>
          <p:nvPr/>
        </p:nvSpPr>
        <p:spPr>
          <a:xfrm>
            <a:off x="4074970" y="3890910"/>
            <a:ext cx="657300" cy="36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by</a:t>
            </a:r>
            <a:endParaRPr b="0" i="0" sz="1200" u="none" cap="none" strike="noStrike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Curso de Python</a:t>
            </a:r>
            <a:endParaRPr b="0" i="0" sz="2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7" name="Google Shape;6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1250" y="1365475"/>
            <a:ext cx="4610351" cy="25818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"/>
          <p:cNvSpPr txBox="1"/>
          <p:nvPr/>
        </p:nvSpPr>
        <p:spPr>
          <a:xfrm>
            <a:off x="1207786" y="4008349"/>
            <a:ext cx="6728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Clase 2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INSTALACIÓN DE PYTHON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834625" y="1275675"/>
            <a:ext cx="34743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comprobar si tenemos instalado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correctamente y configurada la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 de entorno de python,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a </a:t>
            </a:r>
            <a:r>
              <a:rPr b="1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inicio &gt;</a:t>
            </a: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“cmd”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7225" y="1387650"/>
            <a:ext cx="2859750" cy="2904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INSTALACIÓN DE PYTHON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834625" y="1275675"/>
            <a:ext cx="6236100" cy="30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comando que debemos tipear para verificar que tenemos instalado python en Windows es: </a:t>
            </a:r>
            <a:r>
              <a:rPr b="1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python –version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esta todo correcto, nos saldrá información de la versión.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5950" y="2379163"/>
            <a:ext cx="537210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g211f6ab440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211f6ab4408_0_0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TRABAJAR CON IDLE PYTHON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g211f6ab4408_0_0"/>
          <p:cNvSpPr txBox="1"/>
          <p:nvPr/>
        </p:nvSpPr>
        <p:spPr>
          <a:xfrm>
            <a:off x="834625" y="1275675"/>
            <a:ext cx="2585400" cy="22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>
                <a:solidFill>
                  <a:schemeClr val="dk1"/>
                </a:solidFill>
              </a:rPr>
              <a:t>Python ya nos viene con un IDLE donde podremos programar, para ingresar al mismos, escribiremos </a:t>
            </a:r>
            <a:r>
              <a:rPr b="1" lang="es-419" sz="1800">
                <a:solidFill>
                  <a:schemeClr val="dk1"/>
                </a:solidFill>
              </a:rPr>
              <a:t>“IDLE Python” </a:t>
            </a:r>
            <a:r>
              <a:rPr lang="es-419" sz="1800">
                <a:solidFill>
                  <a:schemeClr val="dk1"/>
                </a:solidFill>
              </a:rPr>
              <a:t>en la barra de busqueda del menu inicio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g211f6ab4408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g211f6ab4408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8813" y="1275675"/>
            <a:ext cx="3327151" cy="3365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g211f7292431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211f7292431_0_1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TRABAJAR CON IDLE PYTHON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g211f7292431_0_1"/>
          <p:cNvSpPr txBox="1"/>
          <p:nvPr/>
        </p:nvSpPr>
        <p:spPr>
          <a:xfrm>
            <a:off x="834625" y="1411975"/>
            <a:ext cx="5544000" cy="7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>
                <a:solidFill>
                  <a:schemeClr val="dk1"/>
                </a:solidFill>
              </a:rPr>
              <a:t>Ingresamos al IDLE Python y podremos empezar a programar: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g211f7292431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g211f7292431_0_1"/>
          <p:cNvPicPr preferRelativeResize="0"/>
          <p:nvPr/>
        </p:nvPicPr>
        <p:blipFill rotWithShape="1">
          <a:blip r:embed="rId5">
            <a:alphaModFix/>
          </a:blip>
          <a:srcRect b="2989" l="-1500" r="1499" t="-2990"/>
          <a:stretch/>
        </p:blipFill>
        <p:spPr>
          <a:xfrm>
            <a:off x="982950" y="2445527"/>
            <a:ext cx="7117175" cy="178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211f7292431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211f7292431_0_18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TRABAJAR CON IDLE PYTHON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g211f7292431_0_18"/>
          <p:cNvSpPr txBox="1"/>
          <p:nvPr/>
        </p:nvSpPr>
        <p:spPr>
          <a:xfrm>
            <a:off x="834625" y="1411975"/>
            <a:ext cx="5544000" cy="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>
                <a:solidFill>
                  <a:schemeClr val="dk1"/>
                </a:solidFill>
              </a:rPr>
              <a:t>Para crear script python, guardarlos y ejecutarlos desde el mismo IDLE Python, debemos ingresar a la opción </a:t>
            </a:r>
            <a:r>
              <a:rPr b="1" lang="es-419" sz="1800">
                <a:solidFill>
                  <a:schemeClr val="dk1"/>
                </a:solidFill>
              </a:rPr>
              <a:t>File &gt; New File</a:t>
            </a:r>
            <a:endParaRPr b="1" i="0" sz="1800" u="none" cap="none" strike="noStrike">
              <a:solidFill>
                <a:schemeClr val="dk1"/>
              </a:solidFill>
            </a:endParaRPr>
          </a:p>
        </p:txBody>
      </p:sp>
      <p:pic>
        <p:nvPicPr>
          <p:cNvPr id="112" name="Google Shape;112;g211f7292431_0_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211f7292431_0_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0163" y="2574938"/>
            <a:ext cx="6543675" cy="18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211f7292431_0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211f7292431_0_38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TRABAJAR CON IDLE PYTHON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g211f7292431_0_38"/>
          <p:cNvSpPr txBox="1"/>
          <p:nvPr/>
        </p:nvSpPr>
        <p:spPr>
          <a:xfrm>
            <a:off x="834625" y="1411975"/>
            <a:ext cx="55440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>
                <a:solidFill>
                  <a:schemeClr val="dk1"/>
                </a:solidFill>
              </a:rPr>
              <a:t>Escribiremos código Python</a:t>
            </a:r>
            <a:endParaRPr b="1" i="0" sz="1800" u="none" cap="none" strike="noStrike">
              <a:solidFill>
                <a:schemeClr val="dk1"/>
              </a:solidFill>
            </a:endParaRPr>
          </a:p>
        </p:txBody>
      </p:sp>
      <p:pic>
        <p:nvPicPr>
          <p:cNvPr id="121" name="Google Shape;121;g211f7292431_0_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211f7292431_0_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5375" y="2045750"/>
            <a:ext cx="6953250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g211f7292431_0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211f7292431_0_47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TRABAJAR CON IDLE PYTHON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g211f7292431_0_47"/>
          <p:cNvSpPr txBox="1"/>
          <p:nvPr/>
        </p:nvSpPr>
        <p:spPr>
          <a:xfrm>
            <a:off x="834625" y="1411975"/>
            <a:ext cx="55440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>
                <a:solidFill>
                  <a:schemeClr val="dk1"/>
                </a:solidFill>
              </a:rPr>
              <a:t>Para guardarlo en nuestro sistema operativo con la extensión .py</a:t>
            </a:r>
            <a:endParaRPr b="1" i="0" sz="1800" u="none" cap="none" strike="noStrike">
              <a:solidFill>
                <a:schemeClr val="dk1"/>
              </a:solidFill>
            </a:endParaRPr>
          </a:p>
        </p:txBody>
      </p:sp>
      <p:pic>
        <p:nvPicPr>
          <p:cNvPr id="130" name="Google Shape;130;g211f7292431_0_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211f7292431_0_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5362" y="2122075"/>
            <a:ext cx="4942124" cy="239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g211f7292431_0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211f7292431_0_56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TRABAJAR CON IDLE PYTHON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g211f7292431_0_56"/>
          <p:cNvSpPr txBox="1"/>
          <p:nvPr/>
        </p:nvSpPr>
        <p:spPr>
          <a:xfrm>
            <a:off x="834625" y="1411975"/>
            <a:ext cx="6174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>
                <a:solidFill>
                  <a:schemeClr val="dk1"/>
                </a:solidFill>
              </a:rPr>
              <a:t>Definimos la ubicación donde guardar el script de Python</a:t>
            </a:r>
            <a:endParaRPr b="1" i="0" sz="1800" u="none" cap="none" strike="noStrike">
              <a:solidFill>
                <a:schemeClr val="dk1"/>
              </a:solidFill>
            </a:endParaRPr>
          </a:p>
        </p:txBody>
      </p:sp>
      <p:pic>
        <p:nvPicPr>
          <p:cNvPr id="139" name="Google Shape;139;g211f7292431_0_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211f7292431_0_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77208" y="1904550"/>
            <a:ext cx="4589580" cy="273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g211f7292431_0_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211f7292431_0_65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TRABAJAR CON IDLE PYTHON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g211f7292431_0_65"/>
          <p:cNvSpPr txBox="1"/>
          <p:nvPr/>
        </p:nvSpPr>
        <p:spPr>
          <a:xfrm>
            <a:off x="780350" y="1411975"/>
            <a:ext cx="52386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>
                <a:solidFill>
                  <a:schemeClr val="dk1"/>
                </a:solidFill>
              </a:rPr>
              <a:t>Una vez guardado, lo ejecutamos desde la opción </a:t>
            </a:r>
            <a:r>
              <a:rPr b="1" lang="es-419" sz="1800">
                <a:solidFill>
                  <a:schemeClr val="dk1"/>
                </a:solidFill>
              </a:rPr>
              <a:t>Run &gt; Run Module</a:t>
            </a:r>
            <a:endParaRPr b="1" i="0" sz="1800" u="none" cap="none" strike="noStrike">
              <a:solidFill>
                <a:schemeClr val="dk1"/>
              </a:solidFill>
            </a:endParaRPr>
          </a:p>
        </p:txBody>
      </p:sp>
      <p:pic>
        <p:nvPicPr>
          <p:cNvPr id="148" name="Google Shape;148;g211f7292431_0_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g211f7292431_0_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9325" y="2306513"/>
            <a:ext cx="6934200" cy="200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g211f7292431_0_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211f7292431_0_74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TRABAJAR CON IDLE PYTHON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g211f7292431_0_74"/>
          <p:cNvSpPr txBox="1"/>
          <p:nvPr/>
        </p:nvSpPr>
        <p:spPr>
          <a:xfrm>
            <a:off x="780350" y="1411975"/>
            <a:ext cx="52386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>
                <a:solidFill>
                  <a:schemeClr val="dk1"/>
                </a:solidFill>
              </a:rPr>
              <a:t>Y el resultado nos </a:t>
            </a:r>
            <a:r>
              <a:rPr lang="es-419" sz="1800">
                <a:solidFill>
                  <a:schemeClr val="dk1"/>
                </a:solidFill>
              </a:rPr>
              <a:t>saldrá</a:t>
            </a:r>
            <a:r>
              <a:rPr lang="es-419" sz="1800">
                <a:solidFill>
                  <a:schemeClr val="dk1"/>
                </a:solidFill>
              </a:rPr>
              <a:t> en IDLE Python</a:t>
            </a:r>
            <a:endParaRPr b="1" i="0" sz="1800" u="none" cap="none" strike="noStrike">
              <a:solidFill>
                <a:schemeClr val="dk1"/>
              </a:solidFill>
            </a:endParaRPr>
          </a:p>
        </p:txBody>
      </p:sp>
      <p:pic>
        <p:nvPicPr>
          <p:cNvPr id="157" name="Google Shape;157;g211f7292431_0_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211f7292431_0_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52550" y="2167700"/>
            <a:ext cx="6438900" cy="1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g215442b3f3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215442b3f3c_0_0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TRABAJAR CON EL CMD DE PYTHON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5" name="Google Shape;165;g215442b3f3c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215442b3f3c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87825" y="1266025"/>
            <a:ext cx="3371525" cy="340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215442b3f3c_0_0"/>
          <p:cNvSpPr txBox="1"/>
          <p:nvPr/>
        </p:nvSpPr>
        <p:spPr>
          <a:xfrm>
            <a:off x="834625" y="1275675"/>
            <a:ext cx="2585400" cy="22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>
                <a:solidFill>
                  <a:schemeClr val="dk1"/>
                </a:solidFill>
              </a:rPr>
              <a:t>Python </a:t>
            </a:r>
            <a:r>
              <a:rPr lang="es-419" sz="1800">
                <a:solidFill>
                  <a:schemeClr val="dk1"/>
                </a:solidFill>
              </a:rPr>
              <a:t>también</a:t>
            </a:r>
            <a:r>
              <a:rPr lang="es-419" sz="1800">
                <a:solidFill>
                  <a:schemeClr val="dk1"/>
                </a:solidFill>
              </a:rPr>
              <a:t> viene con un cmd en donde podemos programar con dicho lenguaje.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g215442b3f3c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215442b3f3c_0_9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TRABAJAR CON EL CMD DE PYTHON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4" name="Google Shape;174;g215442b3f3c_0_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215442b3f3c_0_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8775" y="2094548"/>
            <a:ext cx="7065551" cy="22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215442b3f3c_0_9"/>
          <p:cNvSpPr txBox="1"/>
          <p:nvPr/>
        </p:nvSpPr>
        <p:spPr>
          <a:xfrm>
            <a:off x="780350" y="1330550"/>
            <a:ext cx="63243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>
                <a:solidFill>
                  <a:schemeClr val="dk1"/>
                </a:solidFill>
              </a:rPr>
              <a:t>Al ejecutar el cmd de Python, ya podremos empezar a programar en dicho lenguaje.</a:t>
            </a:r>
            <a:endParaRPr b="1" i="0" sz="18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g2154c5e2467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2154c5e2467_0_12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TRABAJAR CON EL CMD DE PYTHON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3" name="Google Shape;183;g2154c5e2467_0_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2154c5e2467_0_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08150" y="1232400"/>
            <a:ext cx="3324526" cy="335857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2154c5e2467_0_12"/>
          <p:cNvSpPr txBox="1"/>
          <p:nvPr/>
        </p:nvSpPr>
        <p:spPr>
          <a:xfrm>
            <a:off x="834625" y="1275675"/>
            <a:ext cx="2585400" cy="22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>
                <a:solidFill>
                  <a:schemeClr val="dk1"/>
                </a:solidFill>
              </a:rPr>
              <a:t>Python </a:t>
            </a:r>
            <a:r>
              <a:rPr lang="es-419" sz="1800">
                <a:solidFill>
                  <a:schemeClr val="dk1"/>
                </a:solidFill>
              </a:rPr>
              <a:t>también</a:t>
            </a:r>
            <a:r>
              <a:rPr lang="es-419" sz="1800">
                <a:solidFill>
                  <a:schemeClr val="dk1"/>
                </a:solidFill>
              </a:rPr>
              <a:t> puede utilizarse con el simbolo de sistemas (“cmd”)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g2154c5e2467_0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2154c5e2467_0_20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TRABAJAR CON EL CMD DE PYTHON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2" name="Google Shape;192;g2154c5e2467_0_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2154c5e2467_0_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6000" y="1979200"/>
            <a:ext cx="7129074" cy="237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2154c5e2467_0_20"/>
          <p:cNvSpPr txBox="1"/>
          <p:nvPr/>
        </p:nvSpPr>
        <p:spPr>
          <a:xfrm>
            <a:off x="780350" y="1330550"/>
            <a:ext cx="63243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>
                <a:solidFill>
                  <a:schemeClr val="dk1"/>
                </a:solidFill>
              </a:rPr>
              <a:t>Al ejecutar el cmd, simplemente colocamos Python y ya podremos empezar a programar en dicho </a:t>
            </a:r>
            <a:r>
              <a:rPr lang="es-419" sz="1800">
                <a:solidFill>
                  <a:schemeClr val="dk1"/>
                </a:solidFill>
              </a:rPr>
              <a:t>lenguaje</a:t>
            </a:r>
            <a:endParaRPr b="1" i="0" sz="18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g2154c5e2467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2154c5e2467_0_1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TRABAJAR CON EL CMD DE PYTHON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1" name="Google Shape;201;g2154c5e2467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g2154c5e2467_0_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5995" y="1457475"/>
            <a:ext cx="2720251" cy="261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2154c5e2467_0_1"/>
          <p:cNvSpPr txBox="1"/>
          <p:nvPr/>
        </p:nvSpPr>
        <p:spPr>
          <a:xfrm>
            <a:off x="1031400" y="1457475"/>
            <a:ext cx="2585400" cy="16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>
                <a:solidFill>
                  <a:schemeClr val="dk1"/>
                </a:solidFill>
              </a:rPr>
              <a:t>El problema de utilizar los “</a:t>
            </a:r>
            <a:r>
              <a:rPr b="1" lang="es-419" sz="1800">
                <a:solidFill>
                  <a:schemeClr val="dk1"/>
                </a:solidFill>
              </a:rPr>
              <a:t>cmd” </a:t>
            </a:r>
            <a:r>
              <a:rPr lang="es-419" sz="1800">
                <a:solidFill>
                  <a:schemeClr val="dk1"/>
                </a:solidFill>
              </a:rPr>
              <a:t>es que no podemos guardar los cambios de lo que realicemos.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5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TRABAJAR CON VISUAL STUDIO CODE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0" name="Google Shape;21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2150" y="1232400"/>
            <a:ext cx="3370424" cy="342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5"/>
          <p:cNvSpPr txBox="1"/>
          <p:nvPr/>
        </p:nvSpPr>
        <p:spPr>
          <a:xfrm>
            <a:off x="834625" y="1275675"/>
            <a:ext cx="2585400" cy="22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>
                <a:solidFill>
                  <a:schemeClr val="dk1"/>
                </a:solidFill>
              </a:rPr>
              <a:t>Python puede utilizarse con muchos IDEs, en nuestro caso utilizaremos “Visual Studio Code”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g2154c5e2467_0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2154c5e2467_0_36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TRABAJAR CON VISUAL STUDIO CODE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9" name="Google Shape;219;g2154c5e2467_0_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g2154c5e2467_0_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0225" y="1933850"/>
            <a:ext cx="5072402" cy="2722524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2154c5e2467_0_36"/>
          <p:cNvSpPr txBox="1"/>
          <p:nvPr/>
        </p:nvSpPr>
        <p:spPr>
          <a:xfrm>
            <a:off x="780350" y="1411975"/>
            <a:ext cx="52386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>
                <a:solidFill>
                  <a:schemeClr val="dk1"/>
                </a:solidFill>
              </a:rPr>
              <a:t>Se </a:t>
            </a:r>
            <a:r>
              <a:rPr lang="es-419" sz="1800">
                <a:solidFill>
                  <a:schemeClr val="dk1"/>
                </a:solidFill>
              </a:rPr>
              <a:t>abrirá</a:t>
            </a:r>
            <a:r>
              <a:rPr lang="es-419" sz="1800">
                <a:solidFill>
                  <a:schemeClr val="dk1"/>
                </a:solidFill>
              </a:rPr>
              <a:t> el IDE de Visual Studio Code</a:t>
            </a:r>
            <a:endParaRPr b="1" i="0" sz="18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g2154c5e2467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2154c5e2467_0_28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TRABAJAR CON VISUAL STUDIO CODE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g2154c5e2467_0_28"/>
          <p:cNvSpPr txBox="1"/>
          <p:nvPr/>
        </p:nvSpPr>
        <p:spPr>
          <a:xfrm>
            <a:off x="834625" y="1275675"/>
            <a:ext cx="6195300" cy="30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visual studio code, para poder programar en Python, para poder hacerlo, necesitamos tener instalada la extensión de Python.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g2154c5e2467_0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6125" y="2396377"/>
            <a:ext cx="6870827" cy="168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g2154c5e2467_0_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g2154c5e2467_0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2154c5e2467_0_51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TRABAJAR CON VISUAL STUDIO CODE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g2154c5e2467_0_51"/>
          <p:cNvSpPr txBox="1"/>
          <p:nvPr/>
        </p:nvSpPr>
        <p:spPr>
          <a:xfrm>
            <a:off x="834625" y="1275675"/>
            <a:ext cx="6188400" cy="10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>
                <a:solidFill>
                  <a:schemeClr val="dk1"/>
                </a:solidFill>
              </a:rPr>
              <a:t>Recomiendo </a:t>
            </a:r>
            <a:r>
              <a:rPr lang="es-419" sz="1800">
                <a:solidFill>
                  <a:schemeClr val="dk1"/>
                </a:solidFill>
              </a:rPr>
              <a:t>también</a:t>
            </a:r>
            <a:r>
              <a:rPr lang="es-419" sz="1800">
                <a:solidFill>
                  <a:schemeClr val="dk1"/>
                </a:solidFill>
              </a:rPr>
              <a:t> instalar la extensión Code Runner, que nos permite ejecutar de forma mucho </a:t>
            </a:r>
            <a:r>
              <a:rPr lang="es-419" sz="1800">
                <a:solidFill>
                  <a:schemeClr val="dk1"/>
                </a:solidFill>
              </a:rPr>
              <a:t>más</a:t>
            </a:r>
            <a:r>
              <a:rPr lang="es-419" sz="1800">
                <a:solidFill>
                  <a:schemeClr val="dk1"/>
                </a:solidFill>
              </a:rPr>
              <a:t> </a:t>
            </a:r>
            <a:r>
              <a:rPr lang="es-419" sz="1800">
                <a:solidFill>
                  <a:schemeClr val="dk1"/>
                </a:solidFill>
              </a:rPr>
              <a:t>fácil</a:t>
            </a:r>
            <a:r>
              <a:rPr lang="es-419" sz="1800">
                <a:solidFill>
                  <a:schemeClr val="dk1"/>
                </a:solidFill>
              </a:rPr>
              <a:t> todos los proyectos, no solo para el lenguaje de Python.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g2154c5e2467_0_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g2154c5e2467_0_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1550" y="2418148"/>
            <a:ext cx="7569726" cy="178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g211f7292431_0_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g211f7292431_0_83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TRABAJAR CON PYTHON</a:t>
            </a:r>
            <a:endParaRPr b="1" sz="2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g211f7292431_0_83"/>
          <p:cNvSpPr txBox="1"/>
          <p:nvPr/>
        </p:nvSpPr>
        <p:spPr>
          <a:xfrm>
            <a:off x="973050" y="1262388"/>
            <a:ext cx="713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s-419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“AHORA VAMOS A PRACTICARLO”</a:t>
            </a:r>
            <a:endParaRPr b="1" i="1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g211f7292431_0_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g211f7292431_0_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5699" y="1805175"/>
            <a:ext cx="3971714" cy="26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5760" y="4065645"/>
            <a:ext cx="1843088" cy="325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600" y="3922941"/>
            <a:ext cx="601985" cy="707093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7"/>
          <p:cNvSpPr txBox="1"/>
          <p:nvPr/>
        </p:nvSpPr>
        <p:spPr>
          <a:xfrm>
            <a:off x="1195698" y="3997755"/>
            <a:ext cx="657300" cy="36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by</a:t>
            </a:r>
            <a:endParaRPr b="0" i="0" sz="12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57" name="Google Shape;257;p7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48200" y="4091107"/>
            <a:ext cx="269200" cy="269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7">
            <a:hlinkClick r:id="rId8"/>
          </p:cNvPr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90690" y="4091743"/>
            <a:ext cx="268772" cy="268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7">
            <a:hlinkClick r:id="rId10"/>
          </p:cNvPr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76328" y="4091744"/>
            <a:ext cx="268772" cy="26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7">
            <a:hlinkClick r:id="rId12"/>
          </p:cNvPr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761948" y="4091803"/>
            <a:ext cx="268775" cy="268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7">
            <a:hlinkClick r:id="rId14"/>
          </p:cNvPr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005069" y="4091373"/>
            <a:ext cx="268772" cy="26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7">
            <a:hlinkClick r:id="rId16"/>
          </p:cNvPr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833817" y="4091742"/>
            <a:ext cx="268772" cy="26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7">
            <a:hlinkClick r:id="rId18"/>
          </p:cNvPr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419457" y="4091381"/>
            <a:ext cx="268775" cy="26877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7"/>
          <p:cNvSpPr txBox="1"/>
          <p:nvPr/>
        </p:nvSpPr>
        <p:spPr>
          <a:xfrm>
            <a:off x="1208426" y="1880412"/>
            <a:ext cx="3244500" cy="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0" i="0" lang="es-419" sz="56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Gracias</a:t>
            </a:r>
            <a:endParaRPr b="0" i="0" sz="56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5" name="Google Shape;265;p7"/>
          <p:cNvSpPr txBox="1"/>
          <p:nvPr/>
        </p:nvSpPr>
        <p:spPr>
          <a:xfrm>
            <a:off x="4256116" y="2149411"/>
            <a:ext cx="420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“Transformamos realidades co-creando soluciones de alto impacto”</a:t>
            </a:r>
            <a:endParaRPr b="0" i="0" sz="14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