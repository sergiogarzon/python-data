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 SemiBold"/>
      <p:regular r:id="rId14"/>
      <p:bold r:id="rId15"/>
      <p:italic r:id="rId16"/>
      <p:boldItalic r:id="rId17"/>
    </p:embeddedFont>
    <p:embeddedFont>
      <p:font typeface="Proxima Nova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Montserrat Medium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ProximaNova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Medium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MontserratMedium-italic.fntdata"/><Relationship Id="rId27" Type="http://schemas.openxmlformats.org/officeDocument/2006/relationships/font" Target="fonts/Montserrat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MontserratSemiBold-bold.fntdata"/><Relationship Id="rId14" Type="http://schemas.openxmlformats.org/officeDocument/2006/relationships/font" Target="fonts/MontserratSemiBold-regular.fntdata"/><Relationship Id="rId17" Type="http://schemas.openxmlformats.org/officeDocument/2006/relationships/font" Target="fonts/MontserratSemiBold-boldItalic.fntdata"/><Relationship Id="rId16" Type="http://schemas.openxmlformats.org/officeDocument/2006/relationships/font" Target="fonts/MontserratSemiBold-italic.fntdata"/><Relationship Id="rId19" Type="http://schemas.openxmlformats.org/officeDocument/2006/relationships/font" Target="fonts/ProximaNova-bold.fntdata"/><Relationship Id="rId18" Type="http://schemas.openxmlformats.org/officeDocument/2006/relationships/font" Target="fonts/ProximaNov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e89824913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e89824913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de89824913_0_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2de89824913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de89824913_0_2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2de89824913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de89824913_0_3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2de89824913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de89824913_0_3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2de89824913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de89824913_0_3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2de89824913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de89824913_0_3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2de89824913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de89824913_0_2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2de89824913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1.jp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1.jpg"/><Relationship Id="rId5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1.jp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1.jp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hyperlink" Target="https://www.facebook.com/AYIGROUP" TargetMode="External"/><Relationship Id="rId13" Type="http://schemas.openxmlformats.org/officeDocument/2006/relationships/image" Target="../media/image20.png"/><Relationship Id="rId12" Type="http://schemas.openxmlformats.org/officeDocument/2006/relationships/hyperlink" Target="https://www.instagram.com/ayi.group/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9" Type="http://schemas.openxmlformats.org/officeDocument/2006/relationships/image" Target="../media/image15.png"/><Relationship Id="rId15" Type="http://schemas.openxmlformats.org/officeDocument/2006/relationships/image" Target="../media/image16.png"/><Relationship Id="rId14" Type="http://schemas.openxmlformats.org/officeDocument/2006/relationships/hyperlink" Target="https://www.linkedin.com/company/ayigroup/" TargetMode="External"/><Relationship Id="rId17" Type="http://schemas.openxmlformats.org/officeDocument/2006/relationships/image" Target="../media/image14.png"/><Relationship Id="rId16" Type="http://schemas.openxmlformats.org/officeDocument/2006/relationships/hyperlink" Target="https://open.spotify.com/show/2WzJUSpRTR1SYRATYZ4el5" TargetMode="External"/><Relationship Id="rId5" Type="http://schemas.openxmlformats.org/officeDocument/2006/relationships/image" Target="../media/image4.png"/><Relationship Id="rId19" Type="http://schemas.openxmlformats.org/officeDocument/2006/relationships/image" Target="../media/image19.png"/><Relationship Id="rId6" Type="http://schemas.openxmlformats.org/officeDocument/2006/relationships/hyperlink" Target="http://ayi.group" TargetMode="External"/><Relationship Id="rId18" Type="http://schemas.openxmlformats.org/officeDocument/2006/relationships/hyperlink" Target="https://twitter.com/ayi_group" TargetMode="External"/><Relationship Id="rId7" Type="http://schemas.openxmlformats.org/officeDocument/2006/relationships/image" Target="../media/image13.png"/><Relationship Id="rId8" Type="http://schemas.openxmlformats.org/officeDocument/2006/relationships/hyperlink" Target="https://www.youtube.com/channel/UCVp79aoTmjW500iAkjRT9D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80375" y="1725000"/>
            <a:ext cx="83508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Capacitación de Python</a:t>
            </a:r>
            <a:endParaRPr sz="23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457200" lvl="0" marL="18288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457200" lvl="0" marL="18288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Instructor: </a:t>
            </a:r>
            <a:r>
              <a:rPr lang="es-419" sz="21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Sergio Garzón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7338" y="3508336"/>
            <a:ext cx="891486" cy="104714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4074970" y="3890910"/>
            <a:ext cx="657300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02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by</a:t>
            </a:r>
            <a:endParaRPr b="0" i="0" sz="1200" u="none" cap="none" strike="noStrike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8357" y="3958800"/>
            <a:ext cx="1843088" cy="325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1207811" y="3995249"/>
            <a:ext cx="6728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Clase 4</a:t>
            </a:r>
            <a:endParaRPr b="1"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CURSO DE PYTHON</a:t>
            </a:r>
            <a:endParaRPr b="0" i="0" sz="2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1250" y="1365475"/>
            <a:ext cx="4610351" cy="258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COMENTARIOS EN PYTHON</a:t>
            </a:r>
            <a:endParaRPr b="1"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942750" y="1180675"/>
            <a:ext cx="7137000" cy="27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dk1"/>
                </a:solidFill>
              </a:rPr>
              <a:t>¿Qué son los comentarios?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Los comentarios son textos que podemos incorporar a nuestro código y el compilador lo omite, para nosotros los programadores es bastante útil para varias cosas.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u="sng">
                <a:solidFill>
                  <a:schemeClr val="dk1"/>
                </a:solidFill>
              </a:rPr>
              <a:t>Pueden ser usados:</a:t>
            </a:r>
            <a:endParaRPr i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>
                <a:solidFill>
                  <a:schemeClr val="dk1"/>
                </a:solidFill>
              </a:rPr>
              <a:t>Para explicar código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>
                <a:solidFill>
                  <a:schemeClr val="dk1"/>
                </a:solidFill>
              </a:rPr>
              <a:t>Para marcar el código más legible.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>
                <a:solidFill>
                  <a:schemeClr val="dk1"/>
                </a:solidFill>
              </a:rPr>
              <a:t>Para evitar la ejecución al probar código (Testing)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COMENTARIOS EN PYTHON</a:t>
            </a:r>
            <a:endParaRPr b="1"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942750" y="1180675"/>
            <a:ext cx="7137000" cy="27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dk1"/>
                </a:solidFill>
              </a:rPr>
              <a:t>Tipos de comentarios en Python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Podemos utilizar dos tipos de comentarios: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419" u="sng">
                <a:solidFill>
                  <a:schemeClr val="dk1"/>
                </a:solidFill>
              </a:rPr>
              <a:t>De una sola línea:</a:t>
            </a:r>
            <a:endParaRPr b="1" u="sng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			Para definir comentarios de una sola línea, utilizamos el símbolo # al principio del comentario que queramos agregar.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>
                <a:solidFill>
                  <a:schemeClr val="dk1"/>
                </a:solidFill>
              </a:rPr>
              <a:t>Ejemplo de código:</a:t>
            </a:r>
            <a:endParaRPr i="1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	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81500" y="3532754"/>
            <a:ext cx="4692600" cy="57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COMENTARIOS EN PYTHON</a:t>
            </a:r>
            <a:endParaRPr b="1"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942750" y="1180675"/>
            <a:ext cx="7137000" cy="27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419" u="sng">
                <a:solidFill>
                  <a:schemeClr val="dk1"/>
                </a:solidFill>
              </a:rPr>
              <a:t>Multilineas</a:t>
            </a:r>
            <a:r>
              <a:rPr b="1" lang="es-419" u="sng">
                <a:solidFill>
                  <a:schemeClr val="dk1"/>
                </a:solidFill>
              </a:rPr>
              <a:t>:</a:t>
            </a:r>
            <a:endParaRPr b="1" u="sng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Para definir comentarios multilineas, los podemos hacer de dos formas: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La primera de ellas, es utilizando </a:t>
            </a:r>
            <a:r>
              <a:rPr lang="es-419">
                <a:solidFill>
                  <a:schemeClr val="dk1"/>
                </a:solidFill>
              </a:rPr>
              <a:t>también</a:t>
            </a:r>
            <a:r>
              <a:rPr lang="es-419">
                <a:solidFill>
                  <a:schemeClr val="dk1"/>
                </a:solidFill>
              </a:rPr>
              <a:t> el </a:t>
            </a:r>
            <a:r>
              <a:rPr lang="es-419">
                <a:solidFill>
                  <a:schemeClr val="dk1"/>
                </a:solidFill>
              </a:rPr>
              <a:t>carácter</a:t>
            </a:r>
            <a:r>
              <a:rPr lang="es-419">
                <a:solidFill>
                  <a:schemeClr val="dk1"/>
                </a:solidFill>
              </a:rPr>
              <a:t> # y colocarlo al principio de cada </a:t>
            </a:r>
            <a:r>
              <a:rPr lang="es-419">
                <a:solidFill>
                  <a:schemeClr val="dk1"/>
                </a:solidFill>
              </a:rPr>
              <a:t>línea</a:t>
            </a:r>
            <a:r>
              <a:rPr lang="es-419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>
                <a:solidFill>
                  <a:schemeClr val="dk1"/>
                </a:solidFill>
              </a:rPr>
              <a:t>Ejemplo de código:</a:t>
            </a:r>
            <a:endParaRPr i="1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	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55638" y="3149427"/>
            <a:ext cx="4363875" cy="117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COMENTARIOS EN PYTHON</a:t>
            </a:r>
            <a:endParaRPr b="1"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942750" y="1180675"/>
            <a:ext cx="7137000" cy="12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- La segunda forma,  es definiendo tres comillas simples (</a:t>
            </a:r>
            <a:r>
              <a:rPr b="1" lang="es-419">
                <a:solidFill>
                  <a:schemeClr val="dk1"/>
                </a:solidFill>
              </a:rPr>
              <a:t>‘’’</a:t>
            </a:r>
            <a:r>
              <a:rPr lang="es-419">
                <a:solidFill>
                  <a:schemeClr val="dk1"/>
                </a:solidFill>
              </a:rPr>
              <a:t>) al principio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y al final del comentario.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>
                <a:solidFill>
                  <a:schemeClr val="dk1"/>
                </a:solidFill>
              </a:rPr>
              <a:t>Ejemplo de código: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01700" y="2371663"/>
            <a:ext cx="3895725" cy="132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COMENTARIOS EN PYTHON</a:t>
            </a:r>
            <a:endParaRPr b="1"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973050" y="1262388"/>
            <a:ext cx="713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419" sz="1500">
                <a:solidFill>
                  <a:schemeClr val="dk1"/>
                </a:solidFill>
              </a:rPr>
              <a:t>“AHORA VAMOS A PRACTICARLO”</a:t>
            </a:r>
            <a:endParaRPr b="1" i="1" sz="1500">
              <a:solidFill>
                <a:schemeClr val="dk1"/>
              </a:solidFill>
            </a:endParaRPr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55699" y="1805175"/>
            <a:ext cx="3971714" cy="26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5760" y="4065645"/>
            <a:ext cx="1843088" cy="325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600" y="3922941"/>
            <a:ext cx="601985" cy="70709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/>
          <p:nvPr/>
        </p:nvSpPr>
        <p:spPr>
          <a:xfrm>
            <a:off x="1195698" y="3997755"/>
            <a:ext cx="657300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02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by</a:t>
            </a:r>
            <a:endParaRPr b="0" i="0" sz="12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9" name="Google Shape;119;p20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48200" y="4091107"/>
            <a:ext cx="269200" cy="269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>
            <a:hlinkClick r:id="rId8"/>
          </p:cNvPr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90690" y="4091743"/>
            <a:ext cx="268772" cy="268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>
            <a:hlinkClick r:id="rId10"/>
          </p:cNvPr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76328" y="4091744"/>
            <a:ext cx="268772" cy="26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0">
            <a:hlinkClick r:id="rId12"/>
          </p:cNvPr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761948" y="4091803"/>
            <a:ext cx="268775" cy="268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0">
            <a:hlinkClick r:id="rId14"/>
          </p:cNvPr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005069" y="4091373"/>
            <a:ext cx="268772" cy="26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0">
            <a:hlinkClick r:id="rId16"/>
          </p:cNvPr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833817" y="4091742"/>
            <a:ext cx="268772" cy="26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0">
            <a:hlinkClick r:id="rId18"/>
          </p:cNvPr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419457" y="4091381"/>
            <a:ext cx="268775" cy="26877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0"/>
          <p:cNvSpPr txBox="1"/>
          <p:nvPr/>
        </p:nvSpPr>
        <p:spPr>
          <a:xfrm>
            <a:off x="1208426" y="1880412"/>
            <a:ext cx="3244500" cy="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0" i="0" lang="es-419" sz="56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Gracias</a:t>
            </a:r>
            <a:endParaRPr b="0" i="0" sz="56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4256116" y="2149411"/>
            <a:ext cx="420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“Transformamos realidades co-creando soluciones de alto impacto”</a:t>
            </a:r>
            <a:endParaRPr b="0" i="0" sz="14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