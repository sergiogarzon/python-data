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Montserrat SemiBold"/>
      <p:regular r:id="rId32"/>
      <p:bold r:id="rId33"/>
      <p:italic r:id="rId34"/>
      <p:boldItalic r:id="rId35"/>
    </p:embeddedFont>
    <p:embeddedFont>
      <p:font typeface="Proxima Nova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8" roundtripDataSignature="AMtx7mhXwSQqmJuuy/VkzDDo/FjQjRIF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MontserratMedium-regular.fntdata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46" Type="http://schemas.openxmlformats.org/officeDocument/2006/relationships/font" Target="fonts/MontserratMedium-italic.fntdata"/><Relationship Id="rId23" Type="http://schemas.openxmlformats.org/officeDocument/2006/relationships/slide" Target="slides/slide18.xml"/><Relationship Id="rId45" Type="http://schemas.openxmlformats.org/officeDocument/2006/relationships/font" Target="fonts/Montserrat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MontserratMedium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SemiBold-bold.fntdata"/><Relationship Id="rId10" Type="http://schemas.openxmlformats.org/officeDocument/2006/relationships/slide" Target="slides/slide5.xml"/><Relationship Id="rId32" Type="http://schemas.openxmlformats.org/officeDocument/2006/relationships/font" Target="fonts/Montserrat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ProximaNova-bold.fntdata"/><Relationship Id="rId14" Type="http://schemas.openxmlformats.org/officeDocument/2006/relationships/slide" Target="slides/slide9.xml"/><Relationship Id="rId36" Type="http://schemas.openxmlformats.org/officeDocument/2006/relationships/font" Target="fonts/ProximaNova-regular.fntdata"/><Relationship Id="rId17" Type="http://schemas.openxmlformats.org/officeDocument/2006/relationships/slide" Target="slides/slide12.xml"/><Relationship Id="rId39" Type="http://schemas.openxmlformats.org/officeDocument/2006/relationships/font" Target="fonts/ProximaNova-boldItalic.fntdata"/><Relationship Id="rId16" Type="http://schemas.openxmlformats.org/officeDocument/2006/relationships/slide" Target="slides/slide11.xml"/><Relationship Id="rId38" Type="http://schemas.openxmlformats.org/officeDocument/2006/relationships/font" Target="fonts/ProximaNova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54c8a5ea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154c8a5e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32deed39f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2d32deed39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32deed39f_1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2d32deed39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32deff329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2d32deff3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32deff329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2d32deff32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32deff329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2d32deff32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32deff329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d32deff32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32deff329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d32deff32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32deff329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2d32deff32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32deff329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2d32deff32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32deff329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2d32deff32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32deff329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2d32deff32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32deff329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2d32deff32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32deff329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d32deff32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32deff329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2d32deff32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32deff329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2d32deff32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32deff329_2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2d32deff329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32deff329_2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2d32deff329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d32deff329_3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2d32deff329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32deff329_3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d32deff329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d32deff329_3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2d32deff329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32deff329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2d32deff329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d30e8002c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2d30e8002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24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9" Type="http://schemas.openxmlformats.org/officeDocument/2006/relationships/image" Target="../media/image32.png"/><Relationship Id="rId15" Type="http://schemas.openxmlformats.org/officeDocument/2006/relationships/image" Target="../media/image34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39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11.png"/><Relationship Id="rId19" Type="http://schemas.openxmlformats.org/officeDocument/2006/relationships/image" Target="../media/image37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25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2154c8a5ea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2154c8a5eae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CADENAS DE CARACTERES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g2154c8a5eae_0_0"/>
          <p:cNvSpPr txBox="1"/>
          <p:nvPr/>
        </p:nvSpPr>
        <p:spPr>
          <a:xfrm>
            <a:off x="942750" y="1180675"/>
            <a:ext cx="7137000" cy="1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Son secuencias de caracteres utilizadas para representar texto.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cadena_caracteres =</a:t>
            </a:r>
            <a:r>
              <a:rPr lang="es-419">
                <a:solidFill>
                  <a:srgbClr val="BF9000"/>
                </a:solidFill>
              </a:rPr>
              <a:t> “Curso de Prisma Medios de Pagos”</a:t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74" name="Google Shape;74;g2154c8a5ea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2d32deed39f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2d32deed39f_1_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CADENAS DE CARACTERES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g2d32deed39f_1_1"/>
          <p:cNvSpPr txBox="1"/>
          <p:nvPr/>
        </p:nvSpPr>
        <p:spPr>
          <a:xfrm>
            <a:off x="942750" y="1180675"/>
            <a:ext cx="7137000" cy="22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Las cadenas de caracteres, puede ser creadas con comillas simples: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También</a:t>
            </a:r>
            <a:r>
              <a:rPr lang="es-419">
                <a:solidFill>
                  <a:schemeClr val="dk1"/>
                </a:solidFill>
              </a:rPr>
              <a:t> la podemos crear con comillas dobles: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g2d32deed39f_1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2d32deed39f_1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4925" y="2573750"/>
            <a:ext cx="65341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2d32deed39f_1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1725" y="3578400"/>
            <a:ext cx="66294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2d32deed39f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2d32deed39f_1_1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CADENAS DE CARACTERES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g2d32deed39f_1_11"/>
          <p:cNvSpPr txBox="1"/>
          <p:nvPr/>
        </p:nvSpPr>
        <p:spPr>
          <a:xfrm>
            <a:off x="942750" y="1180675"/>
            <a:ext cx="7137000" cy="3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Se pueden definir cadenas de caracteres multilineas con comillas simples: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la consola, se </a:t>
            </a:r>
            <a:r>
              <a:rPr lang="es-419">
                <a:solidFill>
                  <a:schemeClr val="dk1"/>
                </a:solidFill>
              </a:rPr>
              <a:t>imprimirá</a:t>
            </a:r>
            <a:r>
              <a:rPr lang="es-419">
                <a:solidFill>
                  <a:schemeClr val="dk1"/>
                </a:solidFill>
              </a:rPr>
              <a:t> una cadena debajo de la otra.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2" name="Google Shape;92;g2d32deed39f_1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2d32deed39f_1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9617" y="2443524"/>
            <a:ext cx="4144757" cy="16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d32deff329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d32deff329_0_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CADENAS DE CARACTERES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g2d32deff329_0_1"/>
          <p:cNvSpPr txBox="1"/>
          <p:nvPr/>
        </p:nvSpPr>
        <p:spPr>
          <a:xfrm>
            <a:off x="942750" y="1180675"/>
            <a:ext cx="7137000" cy="3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También</a:t>
            </a:r>
            <a:r>
              <a:rPr lang="es-419">
                <a:solidFill>
                  <a:schemeClr val="dk1"/>
                </a:solidFill>
              </a:rPr>
              <a:t>, s</a:t>
            </a:r>
            <a:r>
              <a:rPr lang="es-419">
                <a:solidFill>
                  <a:schemeClr val="dk1"/>
                </a:solidFill>
              </a:rPr>
              <a:t>e pueden definir cadenas de caracteres multilineas con comillas dobles: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la consola, se imprimirá una cadena debajo de la otra.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1" name="Google Shape;101;g2d32deff329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2d32deff329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8350" y="2390575"/>
            <a:ext cx="4027300" cy="15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2d32deff329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d32deff329_0_1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g2d32deff329_0_10"/>
          <p:cNvSpPr txBox="1"/>
          <p:nvPr/>
        </p:nvSpPr>
        <p:spPr>
          <a:xfrm>
            <a:off x="942750" y="1180675"/>
            <a:ext cx="7137000" cy="3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len()</a:t>
            </a:r>
            <a:r>
              <a:rPr lang="es-419">
                <a:solidFill>
                  <a:schemeClr val="dk1"/>
                </a:solidFill>
              </a:rPr>
              <a:t> nos permite saber la </a:t>
            </a:r>
            <a:r>
              <a:rPr lang="es-419">
                <a:solidFill>
                  <a:schemeClr val="dk1"/>
                </a:solidFill>
              </a:rPr>
              <a:t>longitud</a:t>
            </a:r>
            <a:r>
              <a:rPr lang="es-419">
                <a:solidFill>
                  <a:schemeClr val="dk1"/>
                </a:solidFill>
              </a:rPr>
              <a:t> de la cadena de </a:t>
            </a:r>
            <a:r>
              <a:rPr lang="es-419">
                <a:solidFill>
                  <a:schemeClr val="dk1"/>
                </a:solidFill>
              </a:rPr>
              <a:t>caracteres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que se </a:t>
            </a:r>
            <a:r>
              <a:rPr lang="es-419">
                <a:solidFill>
                  <a:schemeClr val="dk1"/>
                </a:solidFill>
              </a:rPr>
              <a:t>imprimirá</a:t>
            </a:r>
            <a:r>
              <a:rPr lang="es-419">
                <a:solidFill>
                  <a:schemeClr val="dk1"/>
                </a:solidFill>
              </a:rPr>
              <a:t> en la consola es </a:t>
            </a:r>
            <a:r>
              <a:rPr b="1" lang="es-419">
                <a:solidFill>
                  <a:schemeClr val="dk1"/>
                </a:solidFill>
              </a:rPr>
              <a:t>38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0" name="Google Shape;110;g2d32deff329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d32deff329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5088" y="2843725"/>
            <a:ext cx="6473826" cy="11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2d32deff329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2d32deff329_0_1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g2d32deff329_0_19"/>
          <p:cNvSpPr txBox="1"/>
          <p:nvPr/>
        </p:nvSpPr>
        <p:spPr>
          <a:xfrm>
            <a:off x="942750" y="1180675"/>
            <a:ext cx="7137000" cy="3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Una vez que sabemos la longitud de la cadena de caracteres, podemos acceder a un </a:t>
            </a:r>
            <a:r>
              <a:rPr lang="es-419">
                <a:solidFill>
                  <a:schemeClr val="dk1"/>
                </a:solidFill>
              </a:rPr>
              <a:t>carácter</a:t>
            </a:r>
            <a:r>
              <a:rPr lang="es-419">
                <a:solidFill>
                  <a:schemeClr val="dk1"/>
                </a:solidFill>
              </a:rPr>
              <a:t> que </a:t>
            </a:r>
            <a:r>
              <a:rPr lang="es-419">
                <a:solidFill>
                  <a:schemeClr val="dk1"/>
                </a:solidFill>
              </a:rPr>
              <a:t>está</a:t>
            </a:r>
            <a:r>
              <a:rPr lang="es-419">
                <a:solidFill>
                  <a:schemeClr val="dk1"/>
                </a:solidFill>
              </a:rPr>
              <a:t> en una determinada </a:t>
            </a:r>
            <a:r>
              <a:rPr lang="es-419">
                <a:solidFill>
                  <a:schemeClr val="dk1"/>
                </a:solidFill>
              </a:rPr>
              <a:t>posición</a:t>
            </a:r>
            <a:r>
              <a:rPr lang="es-419">
                <a:solidFill>
                  <a:schemeClr val="dk1"/>
                </a:solidFill>
              </a:rPr>
              <a:t>, para ello colocamos el nombre de la cadena de caracteres y luego entre corchetes el valor.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que se imprimirá en la consola es </a:t>
            </a:r>
            <a:r>
              <a:rPr b="1" lang="es-419">
                <a:solidFill>
                  <a:schemeClr val="dk1"/>
                </a:solidFill>
              </a:rPr>
              <a:t>M</a:t>
            </a:r>
            <a:r>
              <a:rPr lang="es-419">
                <a:solidFill>
                  <a:schemeClr val="dk1"/>
                </a:solidFill>
              </a:rPr>
              <a:t>, ya que se encuentra en la posición 24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9" name="Google Shape;119;g2d32deff329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2d32deff329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7538" y="3237300"/>
            <a:ext cx="6417774" cy="9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2d32deff329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2d32deff329_0_2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g2d32deff329_0_29"/>
          <p:cNvSpPr txBox="1"/>
          <p:nvPr/>
        </p:nvSpPr>
        <p:spPr>
          <a:xfrm>
            <a:off x="942750" y="1180675"/>
            <a:ext cx="71370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Las cadenas de caracteres tienen longitud y cada </a:t>
            </a:r>
            <a:r>
              <a:rPr lang="es-419">
                <a:solidFill>
                  <a:schemeClr val="dk1"/>
                </a:solidFill>
              </a:rPr>
              <a:t>carácter</a:t>
            </a:r>
            <a:r>
              <a:rPr lang="es-419">
                <a:solidFill>
                  <a:schemeClr val="dk1"/>
                </a:solidFill>
              </a:rPr>
              <a:t> se encuentra en una posición que comienza en 0 (cero) y termina en el tamaño de la cadena menos 1 (uno)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s-419">
                <a:solidFill>
                  <a:schemeClr val="dk1"/>
                </a:solidFill>
              </a:rPr>
              <a:t>Nota:</a:t>
            </a:r>
            <a:r>
              <a:rPr i="1" lang="es-419">
                <a:solidFill>
                  <a:schemeClr val="dk1"/>
                </a:solidFill>
              </a:rPr>
              <a:t> Los espacios </a:t>
            </a:r>
            <a:r>
              <a:rPr i="1" lang="es-419">
                <a:solidFill>
                  <a:schemeClr val="dk1"/>
                </a:solidFill>
              </a:rPr>
              <a:t>también</a:t>
            </a:r>
            <a:r>
              <a:rPr i="1" lang="es-419">
                <a:solidFill>
                  <a:schemeClr val="dk1"/>
                </a:solidFill>
              </a:rPr>
              <a:t> cuentan como caracteres.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8" name="Google Shape;128;g2d32deff329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2d32deff329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2575" y="2769300"/>
            <a:ext cx="7387700" cy="98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d32deff329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d32deff329_0_3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g2d32deff329_0_38"/>
          <p:cNvSpPr txBox="1"/>
          <p:nvPr/>
        </p:nvSpPr>
        <p:spPr>
          <a:xfrm>
            <a:off x="942750" y="1180675"/>
            <a:ext cx="7137000" cy="3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find()</a:t>
            </a:r>
            <a:r>
              <a:rPr lang="es-419">
                <a:solidFill>
                  <a:schemeClr val="dk1"/>
                </a:solidFill>
              </a:rPr>
              <a:t>, nos permite saber en </a:t>
            </a:r>
            <a:r>
              <a:rPr lang="es-419">
                <a:solidFill>
                  <a:schemeClr val="dk1"/>
                </a:solidFill>
              </a:rPr>
              <a:t>qué</a:t>
            </a:r>
            <a:r>
              <a:rPr lang="es-419">
                <a:solidFill>
                  <a:schemeClr val="dk1"/>
                </a:solidFill>
              </a:rPr>
              <a:t> posición de la cadena se encuentra un determinado </a:t>
            </a:r>
            <a:r>
              <a:rPr lang="es-419">
                <a:solidFill>
                  <a:schemeClr val="dk1"/>
                </a:solidFill>
              </a:rPr>
              <a:t>carácter o un conjunto de caracteres.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de la consola </a:t>
            </a:r>
            <a:r>
              <a:rPr lang="es-419">
                <a:solidFill>
                  <a:schemeClr val="dk1"/>
                </a:solidFill>
              </a:rPr>
              <a:t>será</a:t>
            </a:r>
            <a:r>
              <a:rPr lang="es-419">
                <a:solidFill>
                  <a:schemeClr val="dk1"/>
                </a:solidFill>
              </a:rPr>
              <a:t> 20, siempre muestra el valor del primero que encuentra.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7" name="Google Shape;137;g2d32deff329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d32deff329_0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7099" y="3066375"/>
            <a:ext cx="6198651" cy="100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2d32deff329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d32deff329_0_4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g2d32deff329_0_47"/>
          <p:cNvSpPr txBox="1"/>
          <p:nvPr/>
        </p:nvSpPr>
        <p:spPr>
          <a:xfrm>
            <a:off x="942750" y="1180675"/>
            <a:ext cx="7137000" cy="3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upper(</a:t>
            </a:r>
            <a:r>
              <a:rPr b="1" lang="es-419">
                <a:solidFill>
                  <a:schemeClr val="dk1"/>
                </a:solidFill>
              </a:rPr>
              <a:t>)</a:t>
            </a:r>
            <a:r>
              <a:rPr lang="es-419">
                <a:solidFill>
                  <a:schemeClr val="dk1"/>
                </a:solidFill>
              </a:rPr>
              <a:t>, nos permite convertir toda la cadena de caracteres a </a:t>
            </a:r>
            <a:r>
              <a:rPr lang="es-419">
                <a:solidFill>
                  <a:schemeClr val="dk1"/>
                </a:solidFill>
              </a:rPr>
              <a:t>mayúscula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de la consola será </a:t>
            </a:r>
            <a:r>
              <a:rPr b="1" lang="es-419">
                <a:solidFill>
                  <a:schemeClr val="dk1"/>
                </a:solidFill>
              </a:rPr>
              <a:t>CURSO DE PYTHON - PRISMA MEDIOS DE PAGO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6" name="Google Shape;146;g2d32deff329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2d32deff329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4238" y="2897825"/>
            <a:ext cx="6104375" cy="9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2d32deff329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d32deff329_0_5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g2d32deff329_0_56"/>
          <p:cNvSpPr txBox="1"/>
          <p:nvPr/>
        </p:nvSpPr>
        <p:spPr>
          <a:xfrm>
            <a:off x="942750" y="1180675"/>
            <a:ext cx="7137000" cy="3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lower</a:t>
            </a:r>
            <a:r>
              <a:rPr b="1" lang="es-419">
                <a:solidFill>
                  <a:schemeClr val="dk1"/>
                </a:solidFill>
              </a:rPr>
              <a:t>()</a:t>
            </a:r>
            <a:r>
              <a:rPr lang="es-419">
                <a:solidFill>
                  <a:schemeClr val="dk1"/>
                </a:solidFill>
              </a:rPr>
              <a:t>, nos permite convertir toda la cadena de caracteres a </a:t>
            </a:r>
            <a:r>
              <a:rPr lang="es-419">
                <a:solidFill>
                  <a:schemeClr val="dk1"/>
                </a:solidFill>
              </a:rPr>
              <a:t>minúscula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de la consola será </a:t>
            </a:r>
            <a:r>
              <a:rPr b="1" lang="es-419">
                <a:solidFill>
                  <a:schemeClr val="dk1"/>
                </a:solidFill>
              </a:rPr>
              <a:t>curso de python - prisma medios de pago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5" name="Google Shape;155;g2d32deff329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d32deff329_0_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6825" y="2929100"/>
            <a:ext cx="661035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2d32deff329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2d32deff329_0_7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g2d32deff329_0_73"/>
          <p:cNvSpPr txBox="1"/>
          <p:nvPr/>
        </p:nvSpPr>
        <p:spPr>
          <a:xfrm>
            <a:off x="942750" y="1180675"/>
            <a:ext cx="7137000" cy="3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capitalize</a:t>
            </a:r>
            <a:r>
              <a:rPr b="1" lang="es-419">
                <a:solidFill>
                  <a:schemeClr val="dk1"/>
                </a:solidFill>
              </a:rPr>
              <a:t>()</a:t>
            </a:r>
            <a:r>
              <a:rPr lang="es-419">
                <a:solidFill>
                  <a:schemeClr val="dk1"/>
                </a:solidFill>
              </a:rPr>
              <a:t>, nos permite convertir la primer letra de una cadena de caracteres a </a:t>
            </a:r>
            <a:r>
              <a:rPr lang="es-419">
                <a:solidFill>
                  <a:schemeClr val="dk1"/>
                </a:solidFill>
              </a:rPr>
              <a:t>mayúscula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de la consola será </a:t>
            </a:r>
            <a:r>
              <a:rPr b="1" lang="es-419">
                <a:solidFill>
                  <a:schemeClr val="dk1"/>
                </a:solidFill>
              </a:rPr>
              <a:t>C</a:t>
            </a:r>
            <a:r>
              <a:rPr b="1" lang="es-419">
                <a:solidFill>
                  <a:schemeClr val="dk1"/>
                </a:solidFill>
              </a:rPr>
              <a:t>urso de python - prisma medios de pago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4" name="Google Shape;164;g2d32deff329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2d32deff329_0_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9675" y="3126950"/>
            <a:ext cx="672465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2d32deff329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2d32deff329_0_8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g2d32deff329_0_82"/>
          <p:cNvSpPr txBox="1"/>
          <p:nvPr/>
        </p:nvSpPr>
        <p:spPr>
          <a:xfrm>
            <a:off x="942750" y="1180675"/>
            <a:ext cx="7137000" cy="3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isdigit</a:t>
            </a:r>
            <a:r>
              <a:rPr b="1" lang="es-419">
                <a:solidFill>
                  <a:schemeClr val="dk1"/>
                </a:solidFill>
              </a:rPr>
              <a:t>()</a:t>
            </a:r>
            <a:r>
              <a:rPr lang="es-419">
                <a:solidFill>
                  <a:schemeClr val="dk1"/>
                </a:solidFill>
              </a:rPr>
              <a:t>, nos permite saber si una cadena de caracteres es todo </a:t>
            </a:r>
            <a:r>
              <a:rPr lang="es-419">
                <a:solidFill>
                  <a:schemeClr val="dk1"/>
                </a:solidFill>
              </a:rPr>
              <a:t>numérica</a:t>
            </a:r>
            <a:r>
              <a:rPr lang="es-419">
                <a:solidFill>
                  <a:schemeClr val="dk1"/>
                </a:solidFill>
              </a:rPr>
              <a:t>. Devuelve una valor booleano (bool), True (verdadero) o False (falso)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de la consola será </a:t>
            </a:r>
            <a:r>
              <a:rPr b="1" lang="es-419">
                <a:solidFill>
                  <a:schemeClr val="dk1"/>
                </a:solidFill>
              </a:rPr>
              <a:t>False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3" name="Google Shape;173;g2d32deff329_0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2d32deff329_0_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4188" y="3135000"/>
            <a:ext cx="6244474" cy="9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2d32deff329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d32deff329_0_9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g2d32deff329_0_91"/>
          <p:cNvSpPr txBox="1"/>
          <p:nvPr/>
        </p:nvSpPr>
        <p:spPr>
          <a:xfrm>
            <a:off x="942750" y="1180675"/>
            <a:ext cx="71370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isalpha</a:t>
            </a:r>
            <a:r>
              <a:rPr b="1" lang="es-419">
                <a:solidFill>
                  <a:schemeClr val="dk1"/>
                </a:solidFill>
              </a:rPr>
              <a:t>()</a:t>
            </a:r>
            <a:r>
              <a:rPr lang="es-419">
                <a:solidFill>
                  <a:schemeClr val="dk1"/>
                </a:solidFill>
              </a:rPr>
              <a:t>, nos permite saber si una cadena de caracteres contiene todos sus caracteres con letras del alfabeto. Devuelve una valor booleano (bool), True (verdadero) o False (falso)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de la consola será </a:t>
            </a:r>
            <a:r>
              <a:rPr b="1" lang="es-419">
                <a:solidFill>
                  <a:schemeClr val="dk1"/>
                </a:solidFill>
              </a:rPr>
              <a:t>False</a:t>
            </a:r>
            <a:r>
              <a:rPr lang="es-419">
                <a:solidFill>
                  <a:schemeClr val="dk1"/>
                </a:solidFill>
              </a:rPr>
              <a:t>, debido a que contiene espacios y los mismos no corresponden al alfabeto.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2" name="Google Shape;182;g2d32deff329_0_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2d32deff329_0_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663" y="3203075"/>
            <a:ext cx="6205526" cy="9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2d32deff329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2d32deff329_1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g2d32deff329_1_0"/>
          <p:cNvSpPr txBox="1"/>
          <p:nvPr/>
        </p:nvSpPr>
        <p:spPr>
          <a:xfrm>
            <a:off x="942750" y="1180675"/>
            <a:ext cx="71370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count</a:t>
            </a:r>
            <a:r>
              <a:rPr b="1" lang="es-419">
                <a:solidFill>
                  <a:schemeClr val="dk1"/>
                </a:solidFill>
              </a:rPr>
              <a:t>()</a:t>
            </a:r>
            <a:r>
              <a:rPr lang="es-419">
                <a:solidFill>
                  <a:schemeClr val="dk1"/>
                </a:solidFill>
              </a:rPr>
              <a:t>, nos permite saber la cantidad de veces que se repite un caracter dentro de la cadena. Esta función si discrimina </a:t>
            </a:r>
            <a:r>
              <a:rPr lang="es-419">
                <a:solidFill>
                  <a:schemeClr val="dk1"/>
                </a:solidFill>
              </a:rPr>
              <a:t>mayúscula </a:t>
            </a:r>
            <a:r>
              <a:rPr lang="es-419">
                <a:solidFill>
                  <a:schemeClr val="dk1"/>
                </a:solidFill>
              </a:rPr>
              <a:t>de </a:t>
            </a:r>
            <a:r>
              <a:rPr lang="es-419">
                <a:solidFill>
                  <a:schemeClr val="dk1"/>
                </a:solidFill>
              </a:rPr>
              <a:t>minúscula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de la consola será </a:t>
            </a:r>
            <a:r>
              <a:rPr b="1" lang="es-419">
                <a:solidFill>
                  <a:schemeClr val="dk1"/>
                </a:solidFill>
              </a:rPr>
              <a:t>3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1" name="Google Shape;191;g2d32deff329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2d32deff329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4613" y="3116099"/>
            <a:ext cx="6243625" cy="90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2d32deff329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2d32deff329_1_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g2d32deff329_1_9"/>
          <p:cNvSpPr txBox="1"/>
          <p:nvPr/>
        </p:nvSpPr>
        <p:spPr>
          <a:xfrm>
            <a:off x="942750" y="1180675"/>
            <a:ext cx="71370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replace</a:t>
            </a:r>
            <a:r>
              <a:rPr b="1" lang="es-419">
                <a:solidFill>
                  <a:schemeClr val="dk1"/>
                </a:solidFill>
              </a:rPr>
              <a:t>()</a:t>
            </a:r>
            <a:r>
              <a:rPr lang="es-419">
                <a:solidFill>
                  <a:schemeClr val="dk1"/>
                </a:solidFill>
              </a:rPr>
              <a:t>, nos permite reemplazar un </a:t>
            </a:r>
            <a:r>
              <a:rPr lang="es-419">
                <a:solidFill>
                  <a:schemeClr val="dk1"/>
                </a:solidFill>
              </a:rPr>
              <a:t>carácter</a:t>
            </a:r>
            <a:r>
              <a:rPr lang="es-419">
                <a:solidFill>
                  <a:schemeClr val="dk1"/>
                </a:solidFill>
              </a:rPr>
              <a:t> de la cadena, por uno nuevo que le ingresemos.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sera </a:t>
            </a:r>
            <a:r>
              <a:rPr b="1" lang="es-419">
                <a:solidFill>
                  <a:schemeClr val="dk1"/>
                </a:solidFill>
              </a:rPr>
              <a:t>Curso di Python - Prisma Midios di Pago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0" name="Google Shape;200;g2d32deff329_1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2d32deff329_1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7300" y="3040525"/>
            <a:ext cx="66294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2d32deff329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2d32deff329_2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FUNCIONES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g2d32deff329_2_0"/>
          <p:cNvSpPr txBox="1"/>
          <p:nvPr/>
        </p:nvSpPr>
        <p:spPr>
          <a:xfrm>
            <a:off x="942750" y="1180675"/>
            <a:ext cx="71370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Funciones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split</a:t>
            </a:r>
            <a:r>
              <a:rPr b="1" lang="es-419">
                <a:solidFill>
                  <a:schemeClr val="dk1"/>
                </a:solidFill>
              </a:rPr>
              <a:t>()</a:t>
            </a:r>
            <a:r>
              <a:rPr lang="es-419">
                <a:solidFill>
                  <a:schemeClr val="dk1"/>
                </a:solidFill>
              </a:rPr>
              <a:t>, nos permite dividir una cadena de caracteres en una lista, </a:t>
            </a:r>
            <a:r>
              <a:rPr lang="es-419">
                <a:solidFill>
                  <a:schemeClr val="dk1"/>
                </a:solidFill>
              </a:rPr>
              <a:t>especificando</a:t>
            </a:r>
            <a:r>
              <a:rPr lang="es-419">
                <a:solidFill>
                  <a:schemeClr val="dk1"/>
                </a:solidFill>
              </a:rPr>
              <a:t> cual es el separador.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sera [‘</a:t>
            </a:r>
            <a:r>
              <a:rPr b="1" lang="es-419">
                <a:solidFill>
                  <a:schemeClr val="dk1"/>
                </a:solidFill>
              </a:rPr>
              <a:t>Curso de Python’, ‘Prisma Medios de Pago’]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9" name="Google Shape;209;g2d32deff329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2d32deff329_2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7648" y="3148500"/>
            <a:ext cx="5737549" cy="83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g2d32deff329_2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2d32deff329_2_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FORMATEO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g2d32deff329_2_9"/>
          <p:cNvSpPr txBox="1"/>
          <p:nvPr/>
        </p:nvSpPr>
        <p:spPr>
          <a:xfrm>
            <a:off x="942750" y="1180675"/>
            <a:ext cx="71370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Formateo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Formatear cadenas de caracteres en Python nos permite insertar valores en una cadena de texto de manera más legible y flexible. Hay varios métodos para realizarlo.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f-strings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format()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Utilizando el 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8" name="Google Shape;218;g2d32deff329_2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2d32deff329_2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2d32deff329_2_1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FORMATEO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2d32deff329_2_18"/>
          <p:cNvSpPr txBox="1"/>
          <p:nvPr/>
        </p:nvSpPr>
        <p:spPr>
          <a:xfrm>
            <a:off x="942750" y="1180675"/>
            <a:ext cx="7137000" cy="3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Formateo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1"/>
                </a:solidFill>
              </a:rPr>
              <a:t>f-strings</a:t>
            </a:r>
            <a:r>
              <a:rPr lang="es-419">
                <a:solidFill>
                  <a:schemeClr val="dk1"/>
                </a:solidFill>
              </a:rPr>
              <a:t> es una forma precisa y eficiente de formatear cadenas. Para ello se coloca la f </a:t>
            </a:r>
            <a:r>
              <a:rPr lang="es-419">
                <a:solidFill>
                  <a:schemeClr val="dk1"/>
                </a:solidFill>
              </a:rPr>
              <a:t>minúscula</a:t>
            </a:r>
            <a:r>
              <a:rPr lang="es-419">
                <a:solidFill>
                  <a:schemeClr val="dk1"/>
                </a:solidFill>
              </a:rPr>
              <a:t> o la F mayuscula al principio de la cadena.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Ejemplo de código: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El resultado sera </a:t>
            </a:r>
            <a:r>
              <a:rPr b="1" lang="es-419">
                <a:solidFill>
                  <a:schemeClr val="dk1"/>
                </a:solidFill>
              </a:rPr>
              <a:t>Curso de Python - Prisma Medios de Pago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6" name="Google Shape;226;g2d32deff329_2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2d32deff329_2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8475" y="2752625"/>
            <a:ext cx="5037826" cy="13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2d32deff329_3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2d32deff329_3_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FORMATEO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g2d32deff329_3_1"/>
          <p:cNvSpPr txBox="1"/>
          <p:nvPr/>
        </p:nvSpPr>
        <p:spPr>
          <a:xfrm>
            <a:off x="942750" y="1180675"/>
            <a:ext cx="7137000" cy="3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Formateo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La función </a:t>
            </a:r>
            <a:r>
              <a:rPr b="1" lang="es-419">
                <a:solidFill>
                  <a:schemeClr val="dk1"/>
                </a:solidFill>
              </a:rPr>
              <a:t>format()</a:t>
            </a:r>
            <a:r>
              <a:rPr lang="es-419">
                <a:solidFill>
                  <a:schemeClr val="dk1"/>
                </a:solidFill>
              </a:rPr>
              <a:t> permite insertar valores en una cadena mediante llaves {} como marcadores de posición.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Ejemplo de código: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El resultado sera </a:t>
            </a:r>
            <a:r>
              <a:rPr b="1" lang="es-419">
                <a:solidFill>
                  <a:schemeClr val="dk1"/>
                </a:solidFill>
              </a:rPr>
              <a:t>Curso de Python - Prisma Medios de Pago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5" name="Google Shape;235;g2d32deff329_3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2d32deff329_3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1472" y="2774950"/>
            <a:ext cx="5779800" cy="12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2d32deff329_3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2d32deff329_3_1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FORMATEO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g2d32deff329_3_11"/>
          <p:cNvSpPr txBox="1"/>
          <p:nvPr/>
        </p:nvSpPr>
        <p:spPr>
          <a:xfrm>
            <a:off x="942750" y="1180675"/>
            <a:ext cx="7137000" cy="3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Formateo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En l</a:t>
            </a:r>
            <a:r>
              <a:rPr lang="es-419">
                <a:solidFill>
                  <a:schemeClr val="dk1"/>
                </a:solidFill>
              </a:rPr>
              <a:t>a función </a:t>
            </a:r>
            <a:r>
              <a:rPr b="1" lang="es-419">
                <a:solidFill>
                  <a:schemeClr val="dk1"/>
                </a:solidFill>
              </a:rPr>
              <a:t>format()</a:t>
            </a:r>
            <a:r>
              <a:rPr lang="es-419">
                <a:solidFill>
                  <a:schemeClr val="dk1"/>
                </a:solidFill>
              </a:rPr>
              <a:t> </a:t>
            </a:r>
            <a:r>
              <a:rPr lang="es-419">
                <a:solidFill>
                  <a:schemeClr val="dk1"/>
                </a:solidFill>
              </a:rPr>
              <a:t>también</a:t>
            </a:r>
            <a:r>
              <a:rPr lang="es-419">
                <a:solidFill>
                  <a:schemeClr val="dk1"/>
                </a:solidFill>
              </a:rPr>
              <a:t> podemos agregar indices en las llaves {}, siempre comenzando desde el 0 (cero)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Ejemplo de código: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El resultado sera </a:t>
            </a:r>
            <a:r>
              <a:rPr b="1" lang="es-419">
                <a:solidFill>
                  <a:schemeClr val="dk1"/>
                </a:solidFill>
              </a:rPr>
              <a:t>Curso de Python - Prisma Medios de Pago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4" name="Google Shape;244;g2d32deff329_3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2d32deff329_3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7375" y="2857750"/>
            <a:ext cx="5882424" cy="12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2d32deff329_3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2d32deff329_3_2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FORMATEO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g2d32deff329_3_20"/>
          <p:cNvSpPr txBox="1"/>
          <p:nvPr/>
        </p:nvSpPr>
        <p:spPr>
          <a:xfrm>
            <a:off x="942750" y="1180675"/>
            <a:ext cx="7137000" cy="3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Formateo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Con el </a:t>
            </a:r>
            <a:r>
              <a:rPr lang="es-419">
                <a:solidFill>
                  <a:schemeClr val="dk1"/>
                </a:solidFill>
              </a:rPr>
              <a:t>método</a:t>
            </a:r>
            <a:r>
              <a:rPr lang="es-419">
                <a:solidFill>
                  <a:schemeClr val="dk1"/>
                </a:solidFill>
              </a:rPr>
              <a:t> del %, podemos agregar los valores a la cadena.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%s: Inserta cadenas de texto (str) o booleanos (bool)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%d: Inserta </a:t>
            </a:r>
            <a:r>
              <a:rPr lang="es-419">
                <a:solidFill>
                  <a:schemeClr val="dk1"/>
                </a:solidFill>
              </a:rPr>
              <a:t>números</a:t>
            </a:r>
            <a:r>
              <a:rPr lang="es-419">
                <a:solidFill>
                  <a:schemeClr val="dk1"/>
                </a:solidFill>
              </a:rPr>
              <a:t> enteros (int)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%f: Inserta </a:t>
            </a:r>
            <a:r>
              <a:rPr lang="es-419">
                <a:solidFill>
                  <a:schemeClr val="dk1"/>
                </a:solidFill>
              </a:rPr>
              <a:t>números</a:t>
            </a:r>
            <a:r>
              <a:rPr lang="es-419">
                <a:solidFill>
                  <a:schemeClr val="dk1"/>
                </a:solidFill>
              </a:rPr>
              <a:t> de coma flotante (float)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3" name="Google Shape;253;g2d32deff329_3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2d32deff329_3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650" y="3405975"/>
            <a:ext cx="5558475" cy="127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g2d32deff329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d32deff329_4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REPLICACIÓN</a:t>
            </a: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CADENAS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g2d32deff329_4_0"/>
          <p:cNvSpPr txBox="1"/>
          <p:nvPr/>
        </p:nvSpPr>
        <p:spPr>
          <a:xfrm>
            <a:off x="942750" y="1180675"/>
            <a:ext cx="71370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Replicación de cadenas de caracteres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Para replicar cadenas de caracteres, podemos utilizar el asterisco “*”, seguido de un </a:t>
            </a:r>
            <a:r>
              <a:rPr lang="es-419">
                <a:solidFill>
                  <a:schemeClr val="dk1"/>
                </a:solidFill>
              </a:rPr>
              <a:t>número</a:t>
            </a:r>
            <a:r>
              <a:rPr lang="es-419">
                <a:solidFill>
                  <a:schemeClr val="dk1"/>
                </a:solidFill>
              </a:rPr>
              <a:t> que </a:t>
            </a:r>
            <a:r>
              <a:rPr lang="es-419">
                <a:solidFill>
                  <a:schemeClr val="dk1"/>
                </a:solidFill>
              </a:rPr>
              <a:t>indicará</a:t>
            </a:r>
            <a:r>
              <a:rPr lang="es-419">
                <a:solidFill>
                  <a:schemeClr val="dk1"/>
                </a:solidFill>
              </a:rPr>
              <a:t> la cantidad de replicaciones que necesitamos.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El resultado de la consola sera </a:t>
            </a:r>
            <a:r>
              <a:rPr b="1" lang="es-419">
                <a:solidFill>
                  <a:schemeClr val="dk1"/>
                </a:solidFill>
              </a:rPr>
              <a:t>Curso de Python - Prisma Medios de PagoCurso de Python - Prisma Medios de Pago</a:t>
            </a:r>
            <a:r>
              <a:rPr b="1" lang="es-419">
                <a:solidFill>
                  <a:schemeClr val="dk1"/>
                </a:solidFill>
              </a:rPr>
              <a:t>Curso de Python - Prisma Medios de Pago</a:t>
            </a:r>
            <a:r>
              <a:rPr lang="es-419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2" name="Google Shape;262;g2d32deff329_4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2d32deff329_4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6350" y="3116838"/>
            <a:ext cx="6591300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2d30e8002c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2d30e8002c4_0_0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1" lang="es-419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“AHORA VAMOS A PRACTICARLO”</a:t>
            </a:r>
            <a:endParaRPr b="1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g2d30e8002c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2d30e8002c4_0_0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CADENAS DE CARACTERES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80" name="Google Shape;280;p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1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8" name="Google Shape;288;p4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