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Proxima Nova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Montserrat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6" roundtripDataSignature="AMtx7miThkkqtgJr2aJBg7J+OsOwGI+j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ProximaNova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d486496de8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d486496d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486496de8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2d486496de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486496de8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2d486496de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d486496de8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2d486496de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d486496de8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d486496de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486496de8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d486496de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486496de8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d486496de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d486496de8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2d486496de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hyperlink" Target="https://www.facebook.com/AYIGROUP" TargetMode="External"/><Relationship Id="rId13" Type="http://schemas.openxmlformats.org/officeDocument/2006/relationships/image" Target="../media/image15.png"/><Relationship Id="rId12" Type="http://schemas.openxmlformats.org/officeDocument/2006/relationships/hyperlink" Target="https://www.instagram.com/ayi.group/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6.png"/><Relationship Id="rId9" Type="http://schemas.openxmlformats.org/officeDocument/2006/relationships/image" Target="../media/image20.png"/><Relationship Id="rId15" Type="http://schemas.openxmlformats.org/officeDocument/2006/relationships/image" Target="../media/image17.png"/><Relationship Id="rId14" Type="http://schemas.openxmlformats.org/officeDocument/2006/relationships/hyperlink" Target="https://www.linkedin.com/company/ayigroup/" TargetMode="External"/><Relationship Id="rId17" Type="http://schemas.openxmlformats.org/officeDocument/2006/relationships/image" Target="../media/image11.png"/><Relationship Id="rId16" Type="http://schemas.openxmlformats.org/officeDocument/2006/relationships/hyperlink" Target="https://open.spotify.com/show/2WzJUSpRTR1SYRATYZ4el5" TargetMode="External"/><Relationship Id="rId5" Type="http://schemas.openxmlformats.org/officeDocument/2006/relationships/image" Target="../media/image4.png"/><Relationship Id="rId19" Type="http://schemas.openxmlformats.org/officeDocument/2006/relationships/image" Target="../media/image10.png"/><Relationship Id="rId6" Type="http://schemas.openxmlformats.org/officeDocument/2006/relationships/hyperlink" Target="http://ayi.group" TargetMode="External"/><Relationship Id="rId18" Type="http://schemas.openxmlformats.org/officeDocument/2006/relationships/hyperlink" Target="https://twitter.com/ayi_group" TargetMode="External"/><Relationship Id="rId7" Type="http://schemas.openxmlformats.org/officeDocument/2006/relationships/image" Target="../media/image13.png"/><Relationship Id="rId8" Type="http://schemas.openxmlformats.org/officeDocument/2006/relationships/hyperlink" Target="https://www.youtube.com/channel/UCVp79aoTmjW500iAkjRT9D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80375" y="1725000"/>
            <a:ext cx="8350800" cy="1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Capacitación de Python</a:t>
            </a:r>
            <a:endParaRPr b="0" i="0" sz="23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457200" lvl="0" marL="18288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419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Instructor: </a:t>
            </a:r>
            <a:r>
              <a:rPr b="0" i="0" lang="es-419" sz="2100" u="none" cap="none" strike="noStrik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Sergio Garzón</a:t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7338" y="3508336"/>
            <a:ext cx="891486" cy="104714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4074970" y="3890910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357" y="3958800"/>
            <a:ext cx="1843088" cy="325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1207811" y="3995249"/>
            <a:ext cx="6728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Clase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12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CURSO DE PYTHON</a:t>
            </a:r>
            <a:endParaRPr b="0" i="0" sz="27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1250" y="1365475"/>
            <a:ext cx="4610351" cy="25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ERRORES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942750" y="1180675"/>
            <a:ext cx="7137000" cy="28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419" sz="1800">
                <a:solidFill>
                  <a:schemeClr val="dk1"/>
                </a:solidFill>
              </a:rPr>
              <a:t>Errores en Python</a:t>
            </a:r>
            <a:endParaRPr b="1"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Hay 2 (dos) tipos de errores en Python: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>
                <a:solidFill>
                  <a:schemeClr val="dk1"/>
                </a:solidFill>
              </a:rPr>
              <a:t>Errores de sintaxis: </a:t>
            </a:r>
            <a:r>
              <a:rPr lang="es-419">
                <a:solidFill>
                  <a:schemeClr val="dk1"/>
                </a:solidFill>
              </a:rPr>
              <a:t>Estos errores son en tiempo de compilación, es decir, que son errores del código y el compilador nos avisa de que no se puede ejecutar un programa porque </a:t>
            </a:r>
            <a:r>
              <a:rPr lang="es-419">
                <a:solidFill>
                  <a:schemeClr val="dk1"/>
                </a:solidFill>
              </a:rPr>
              <a:t>está</a:t>
            </a:r>
            <a:r>
              <a:rPr lang="es-419">
                <a:solidFill>
                  <a:schemeClr val="dk1"/>
                </a:solidFill>
              </a:rPr>
              <a:t> mal escrito el mismo.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s-419">
                <a:solidFill>
                  <a:schemeClr val="dk1"/>
                </a:solidFill>
              </a:rPr>
              <a:t>Excepciones: </a:t>
            </a:r>
            <a:r>
              <a:rPr lang="es-419">
                <a:solidFill>
                  <a:schemeClr val="dk1"/>
                </a:solidFill>
              </a:rPr>
              <a:t>Son errores que ocurren cuando el programa se </a:t>
            </a:r>
            <a:r>
              <a:rPr lang="es-419">
                <a:solidFill>
                  <a:schemeClr val="dk1"/>
                </a:solidFill>
              </a:rPr>
              <a:t>está</a:t>
            </a:r>
            <a:r>
              <a:rPr lang="es-419">
                <a:solidFill>
                  <a:schemeClr val="dk1"/>
                </a:solidFill>
              </a:rPr>
              <a:t> ejecutando, al producirse un error, falla el programa y se termina cortando, sin poder </a:t>
            </a:r>
            <a:r>
              <a:rPr lang="es-419">
                <a:solidFill>
                  <a:schemeClr val="dk1"/>
                </a:solidFill>
              </a:rPr>
              <a:t>continuar</a:t>
            </a:r>
            <a:r>
              <a:rPr lang="es-419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2d486496de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2d486496de8_0_0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EXCEPCIONES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g2d486496de8_0_0"/>
          <p:cNvSpPr txBox="1"/>
          <p:nvPr/>
        </p:nvSpPr>
        <p:spPr>
          <a:xfrm>
            <a:off x="942750" y="1180675"/>
            <a:ext cx="71370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excepciones son errores que ocurren en tiempo de ejecución y detienen el flujo normal de la aplicación.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-419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son errores de compilación.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Python cuenta con un sistema para el manejo de excepciones.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Hay muchas clases de excepciones en Python, por ejemplo: RuntimeError, NameError, TypeError, BaseException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g2d486496de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g2d486496de8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2d486496de8_0_21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EXCEPCIONES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g2d486496de8_0_21"/>
          <p:cNvSpPr txBox="1"/>
          <p:nvPr/>
        </p:nvSpPr>
        <p:spPr>
          <a:xfrm>
            <a:off x="942750" y="1180675"/>
            <a:ext cx="7137000" cy="3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Muchos lenguajes de programación tienen las excepciones para el manejo de errores, como por ejemplo: C, C++, Java, C#, etc.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En Python hay varios bloques para el manejo de excepciones, esto son: try, except, finally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g2d486496de8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2d486496de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2d486496de8_0_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EXCEPCIONES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g2d486496de8_0_7"/>
          <p:cNvSpPr txBox="1"/>
          <p:nvPr/>
        </p:nvSpPr>
        <p:spPr>
          <a:xfrm>
            <a:off x="942750" y="1180675"/>
            <a:ext cx="7137000" cy="23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Sintaxis del lenguaje con los bloques comunes:</a:t>
            </a:r>
            <a:endParaRPr b="0" i="1" sz="1400" u="none" cap="none" strike="noStrike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g2d486496de8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2d486496de8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28825" y="2571738"/>
            <a:ext cx="50863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2d486496de8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2d486496de8_0_48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EXCEPCIONES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g2d486496de8_0_48"/>
          <p:cNvSpPr txBox="1"/>
          <p:nvPr/>
        </p:nvSpPr>
        <p:spPr>
          <a:xfrm>
            <a:off x="942750" y="1180675"/>
            <a:ext cx="7137000" cy="23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Sintaxis del lenguaje con todos los bloques:</a:t>
            </a:r>
            <a:endParaRPr b="0" i="1" sz="1400" u="none" cap="none" strike="noStrike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g2d486496de8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2d486496de8_0_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1187" y="2320800"/>
            <a:ext cx="3790476" cy="22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2d486496de8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2d486496de8_0_14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EXCEPCIONES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g2d486496de8_0_14"/>
          <p:cNvSpPr txBox="1"/>
          <p:nvPr/>
        </p:nvSpPr>
        <p:spPr>
          <a:xfrm>
            <a:off x="942750" y="1180675"/>
            <a:ext cx="7137000" cy="27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¿Que función cumple cada bloque?</a:t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try: </a:t>
            </a:r>
            <a:r>
              <a:rPr lang="es-419">
                <a:solidFill>
                  <a:schemeClr val="dk1"/>
                </a:solidFill>
              </a:rPr>
              <a:t>Contiene el código que puede generar una excepción. Si se produce un error, el flujo del programa se transfiere al bloque except.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except: </a:t>
            </a:r>
            <a:r>
              <a:rPr lang="es-419">
                <a:solidFill>
                  <a:schemeClr val="dk1"/>
                </a:solidFill>
              </a:rPr>
              <a:t>Se ejecuta si se lanza una excepción en el bloque try. Aquí puedes manejar el error de manera adecuada, como imprimir un mensaje o realizar alguna acción específica.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6" name="Google Shape;116;g2d486496de8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g2d486496de8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2d486496de8_0_57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EXCEPCIONES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g2d486496de8_0_57"/>
          <p:cNvSpPr txBox="1"/>
          <p:nvPr/>
        </p:nvSpPr>
        <p:spPr>
          <a:xfrm>
            <a:off x="942750" y="1180675"/>
            <a:ext cx="7137000" cy="27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¿Que función cumple cada bloque?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else: </a:t>
            </a:r>
            <a:r>
              <a:rPr lang="es-419">
                <a:solidFill>
                  <a:schemeClr val="dk1"/>
                </a:solidFill>
              </a:rPr>
              <a:t>Es un bloque opcional, actúa cuando no se ha capturado ninguna excepción que se haya contemplado.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finally: Es un bloque opcional. </a:t>
            </a:r>
            <a:r>
              <a:rPr lang="es-419">
                <a:solidFill>
                  <a:schemeClr val="dk1"/>
                </a:solidFill>
              </a:rPr>
              <a:t>Se ejecuta siempre, exista o no la excepción. Normalmente lo utilizamos para limpiar los recursos del programa.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24" name="Google Shape;124;g2d486496de8_0_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2d486496de8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d486496de8_0_39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EXCEPCIONES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2d486496de8_0_39"/>
          <p:cNvSpPr txBox="1"/>
          <p:nvPr/>
        </p:nvSpPr>
        <p:spPr>
          <a:xfrm>
            <a:off x="942750" y="1180675"/>
            <a:ext cx="71370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s-419">
                <a:solidFill>
                  <a:schemeClr val="dk1"/>
                </a:solidFill>
              </a:rPr>
              <a:t>Existe un </a:t>
            </a:r>
            <a:r>
              <a:rPr i="1" lang="es-419">
                <a:solidFill>
                  <a:schemeClr val="dk1"/>
                </a:solidFill>
              </a:rPr>
              <a:t>árbol</a:t>
            </a:r>
            <a:r>
              <a:rPr i="1" lang="es-419">
                <a:solidFill>
                  <a:schemeClr val="dk1"/>
                </a:solidFill>
              </a:rPr>
              <a:t> con las clases de excepciones, este es un fragmento del mismo:</a:t>
            </a:r>
            <a:endParaRPr b="0" i="1" sz="1400" u="none" cap="none" strike="noStrike">
              <a:solidFill>
                <a:srgbClr val="BF9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g2d486496de8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d486496de8_0_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9100" y="2431070"/>
            <a:ext cx="4594626" cy="20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2d486496de8_0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2d486496de8_0_32"/>
          <p:cNvSpPr txBox="1"/>
          <p:nvPr/>
        </p:nvSpPr>
        <p:spPr>
          <a:xfrm>
            <a:off x="876000" y="724500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MANEJO DE EXCEPCIONES</a:t>
            </a:r>
            <a:endParaRPr b="1" i="0" sz="2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g2d486496de8_0_32"/>
          <p:cNvSpPr txBox="1"/>
          <p:nvPr/>
        </p:nvSpPr>
        <p:spPr>
          <a:xfrm>
            <a:off x="942750" y="1180675"/>
            <a:ext cx="7137000" cy="23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solidFill>
                  <a:schemeClr val="dk1"/>
                </a:solidFill>
              </a:rPr>
              <a:t>Ejemplo de </a:t>
            </a:r>
            <a:r>
              <a:rPr b="1" lang="es-419">
                <a:solidFill>
                  <a:schemeClr val="dk1"/>
                </a:solidFill>
              </a:rPr>
              <a:t>excepción</a:t>
            </a:r>
            <a:r>
              <a:rPr b="1" lang="es-419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419">
                <a:solidFill>
                  <a:schemeClr val="dk1"/>
                </a:solidFill>
              </a:rPr>
              <a:t>Cuando un programa, nos solicita ingresar por teclado un valor </a:t>
            </a:r>
            <a:r>
              <a:rPr lang="es-419">
                <a:solidFill>
                  <a:schemeClr val="dk1"/>
                </a:solidFill>
              </a:rPr>
              <a:t>numérico</a:t>
            </a:r>
            <a:r>
              <a:rPr lang="es-419">
                <a:solidFill>
                  <a:schemeClr val="dk1"/>
                </a:solidFill>
              </a:rPr>
              <a:t> y terminamos ingresando un </a:t>
            </a:r>
            <a:r>
              <a:rPr lang="es-419">
                <a:solidFill>
                  <a:schemeClr val="dk1"/>
                </a:solidFill>
              </a:rPr>
              <a:t>carácter</a:t>
            </a:r>
            <a:r>
              <a:rPr lang="es-419">
                <a:solidFill>
                  <a:schemeClr val="dk1"/>
                </a:solidFill>
              </a:rPr>
              <a:t> que no es </a:t>
            </a:r>
            <a:r>
              <a:rPr lang="es-419">
                <a:solidFill>
                  <a:schemeClr val="dk1"/>
                </a:solidFill>
              </a:rPr>
              <a:t>numérico</a:t>
            </a:r>
            <a:r>
              <a:rPr lang="es-419">
                <a:solidFill>
                  <a:schemeClr val="dk1"/>
                </a:solidFill>
              </a:rPr>
              <a:t>, se </a:t>
            </a:r>
            <a:r>
              <a:rPr lang="es-419">
                <a:solidFill>
                  <a:schemeClr val="dk1"/>
                </a:solidFill>
              </a:rPr>
              <a:t>lanzará</a:t>
            </a:r>
            <a:r>
              <a:rPr lang="es-419">
                <a:solidFill>
                  <a:schemeClr val="dk1"/>
                </a:solidFill>
              </a:rPr>
              <a:t> una </a:t>
            </a:r>
            <a:r>
              <a:rPr lang="es-419">
                <a:solidFill>
                  <a:schemeClr val="dk1"/>
                </a:solidFill>
              </a:rPr>
              <a:t>excepción</a:t>
            </a:r>
            <a:r>
              <a:rPr lang="es-419">
                <a:solidFill>
                  <a:schemeClr val="dk1"/>
                </a:solidFill>
              </a:rPr>
              <a:t> de tipo </a:t>
            </a:r>
            <a:r>
              <a:rPr b="1" lang="es-419">
                <a:solidFill>
                  <a:schemeClr val="dk1"/>
                </a:solidFill>
              </a:rPr>
              <a:t>ValueError</a:t>
            </a:r>
            <a:r>
              <a:rPr lang="es-419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1" name="Google Shape;141;g2d486496de8_0_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d486496de8_0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5939" y="3263600"/>
            <a:ext cx="5532126" cy="132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4"/>
          <p:cNvSpPr txBox="1"/>
          <p:nvPr/>
        </p:nvSpPr>
        <p:spPr>
          <a:xfrm>
            <a:off x="973050" y="1262388"/>
            <a:ext cx="713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1" lang="es-419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“AHORA VAMOS A PRACTICARLO”</a:t>
            </a:r>
            <a:endParaRPr b="1" i="1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699" y="1805175"/>
            <a:ext cx="3971714" cy="26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EJERCITACIÓN</a:t>
            </a:r>
            <a:endParaRPr b="1"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59413"/>
            <a:ext cx="9392851" cy="52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5"/>
          <p:cNvSpPr txBox="1"/>
          <p:nvPr/>
        </p:nvSpPr>
        <p:spPr>
          <a:xfrm>
            <a:off x="810000" y="1401325"/>
            <a:ext cx="75240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i="0" lang="es-419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Realizar un programa de Python que solicite el ingreso de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2 valores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numéricos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, realice operaciones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matemáticas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de suma,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resta, multiplicacion y division. Pero hay que realizar la captura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 de excepciones correspondiente. Utilizar la clase ValueError.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419">
                <a:latin typeface="Montserrat"/>
                <a:ea typeface="Montserrat"/>
                <a:cs typeface="Montserrat"/>
                <a:sym typeface="Montserrat"/>
              </a:rPr>
              <a:t>2) </a:t>
            </a:r>
            <a:r>
              <a:rPr lang="es-419">
                <a:latin typeface="Montserrat Medium"/>
                <a:ea typeface="Montserrat Medium"/>
                <a:cs typeface="Montserrat Medium"/>
                <a:sym typeface="Montserrat Medium"/>
              </a:rPr>
              <a:t>A partir de una lista, convertir dicha lista a numero entero. El programa va a dar error, pero hay que realizar la captura de excepción utilizando la clase TypeError.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57" name="Google Shape;1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4750" y="1180673"/>
            <a:ext cx="727150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/>
        </p:nvSpPr>
        <p:spPr>
          <a:xfrm>
            <a:off x="906450" y="685375"/>
            <a:ext cx="73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419" sz="2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EJERCITACIÓN</a:t>
            </a:r>
            <a:endParaRPr b="1"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5760" y="4065645"/>
            <a:ext cx="1843088" cy="325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600" y="3922941"/>
            <a:ext cx="601985" cy="70709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1195698" y="3997755"/>
            <a:ext cx="657300" cy="369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862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</a:t>
            </a:r>
            <a:endParaRPr b="0" i="0" sz="1200" u="none" cap="none" strike="noStrik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7" name="Google Shape;167;p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48200" y="4091107"/>
            <a:ext cx="269200" cy="269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90690" y="4091743"/>
            <a:ext cx="268772" cy="26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176328" y="4091744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>
            <a:hlinkClick r:id="rId12"/>
          </p:cNvPr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761948" y="4091803"/>
            <a:ext cx="268775" cy="268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6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05069" y="4091373"/>
            <a:ext cx="268772" cy="268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833817" y="4091742"/>
            <a:ext cx="268772" cy="268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6">
            <a:hlinkClick r:id="rId18"/>
          </p:cNvPr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419457" y="4091381"/>
            <a:ext cx="268775" cy="26877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 txBox="1"/>
          <p:nvPr/>
        </p:nvSpPr>
        <p:spPr>
          <a:xfrm>
            <a:off x="1208426" y="1880412"/>
            <a:ext cx="32445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s-419" sz="56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Gracias</a:t>
            </a:r>
            <a:endParaRPr b="1" i="0" sz="56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4256116" y="2149411"/>
            <a:ext cx="420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“Transformamos realidades co-creando soluciones de alto impacto”</a:t>
            </a:r>
            <a:endParaRPr b="0" i="0" sz="14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