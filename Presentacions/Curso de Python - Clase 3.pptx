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 SemiBold"/>
      <p:regular r:id="rId18"/>
      <p:bold r:id="rId19"/>
      <p:italic r:id="rId20"/>
      <p:boldItalic r:id="rId21"/>
    </p:embeddedFont>
    <p:embeddedFont>
      <p:font typeface="Proxima Nova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Montserrat Medium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4" roundtripDataSignature="AMtx7mj71tUOXThjxy1X1S+oqOGErFk0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italic.fntdata"/><Relationship Id="rId22" Type="http://schemas.openxmlformats.org/officeDocument/2006/relationships/font" Target="fonts/ProximaNova-regular.fntdata"/><Relationship Id="rId21" Type="http://schemas.openxmlformats.org/officeDocument/2006/relationships/font" Target="fonts/MontserratSemiBold-boldItalic.fntdata"/><Relationship Id="rId24" Type="http://schemas.openxmlformats.org/officeDocument/2006/relationships/font" Target="fonts/ProximaNova-italic.fntdata"/><Relationship Id="rId23" Type="http://schemas.openxmlformats.org/officeDocument/2006/relationships/font" Target="fonts/ProximaNov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font" Target="fonts/ProximaNova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bold.fntdata"/><Relationship Id="rId30" Type="http://schemas.openxmlformats.org/officeDocument/2006/relationships/font" Target="fonts/MontserratMedium-regular.fntdata"/><Relationship Id="rId11" Type="http://schemas.openxmlformats.org/officeDocument/2006/relationships/slide" Target="slides/slide6.xml"/><Relationship Id="rId33" Type="http://schemas.openxmlformats.org/officeDocument/2006/relationships/font" Target="fonts/Montserrat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Medium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SemiBold-bold.fntdata"/><Relationship Id="rId18" Type="http://schemas.openxmlformats.org/officeDocument/2006/relationships/font" Target="fonts/Montserra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1557f0d68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21557f0d6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hyperlink" Target="https://docs.python.org/es/3/library/datatypes.html" TargetMode="External"/><Relationship Id="rId5" Type="http://schemas.openxmlformats.org/officeDocument/2006/relationships/image" Target="../media/image4.jpg"/><Relationship Id="rId6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4.jp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hyperlink" Target="https://www.facebook.com/AYIGROUP" TargetMode="External"/><Relationship Id="rId13" Type="http://schemas.openxmlformats.org/officeDocument/2006/relationships/image" Target="../media/image19.png"/><Relationship Id="rId12" Type="http://schemas.openxmlformats.org/officeDocument/2006/relationships/hyperlink" Target="https://www.instagram.com/ayi.group/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9" Type="http://schemas.openxmlformats.org/officeDocument/2006/relationships/image" Target="../media/image20.png"/><Relationship Id="rId15" Type="http://schemas.openxmlformats.org/officeDocument/2006/relationships/image" Target="../media/image16.png"/><Relationship Id="rId14" Type="http://schemas.openxmlformats.org/officeDocument/2006/relationships/hyperlink" Target="https://www.linkedin.com/company/ayigroup/" TargetMode="External"/><Relationship Id="rId17" Type="http://schemas.openxmlformats.org/officeDocument/2006/relationships/image" Target="../media/image18.png"/><Relationship Id="rId16" Type="http://schemas.openxmlformats.org/officeDocument/2006/relationships/hyperlink" Target="https://open.spotify.com/show/2WzJUSpRTR1SYRATYZ4el5" TargetMode="External"/><Relationship Id="rId5" Type="http://schemas.openxmlformats.org/officeDocument/2006/relationships/image" Target="../media/image2.png"/><Relationship Id="rId19" Type="http://schemas.openxmlformats.org/officeDocument/2006/relationships/image" Target="../media/image21.png"/><Relationship Id="rId6" Type="http://schemas.openxmlformats.org/officeDocument/2006/relationships/hyperlink" Target="http://ayi.group" TargetMode="External"/><Relationship Id="rId18" Type="http://schemas.openxmlformats.org/officeDocument/2006/relationships/hyperlink" Target="https://twitter.com/ayi_group" TargetMode="External"/><Relationship Id="rId7" Type="http://schemas.openxmlformats.org/officeDocument/2006/relationships/image" Target="../media/image15.png"/><Relationship Id="rId8" Type="http://schemas.openxmlformats.org/officeDocument/2006/relationships/hyperlink" Target="https://www.youtube.com/channel/UCVp79aoTmjW500iAkjRT9D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480375" y="1725000"/>
            <a:ext cx="83508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419" sz="23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Capacitación de Python</a:t>
            </a:r>
            <a:endParaRPr b="0" i="0" sz="23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18288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18288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-419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Instructor: </a:t>
            </a:r>
            <a:r>
              <a:rPr b="0" i="0" lang="es-419" sz="21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Sergio Garzón</a:t>
            </a:r>
            <a:endParaRPr b="0" i="0" sz="1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7338" y="3508336"/>
            <a:ext cx="891486" cy="104714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/>
        </p:nvSpPr>
        <p:spPr>
          <a:xfrm>
            <a:off x="4074970" y="3890910"/>
            <a:ext cx="657300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by</a:t>
            </a:r>
            <a:endParaRPr b="0" i="0" sz="1200" u="none" cap="none" strike="noStrike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8357" y="3958800"/>
            <a:ext cx="1843088" cy="325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 txBox="1"/>
          <p:nvPr/>
        </p:nvSpPr>
        <p:spPr>
          <a:xfrm>
            <a:off x="1207786" y="4008349"/>
            <a:ext cx="6728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Clase 3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Curso de Python</a:t>
            </a:r>
            <a:endParaRPr b="0" i="0" sz="2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6" name="Google Shape;6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1250" y="1365475"/>
            <a:ext cx="4610351" cy="258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VARIABLES EN PYTHON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834625" y="1275675"/>
            <a:ext cx="73311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Variables: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Espacio de memoria donde se almacena un dato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debe utilizar la nomenclatura </a:t>
            </a:r>
            <a:r>
              <a:rPr b="1" i="0" lang="es-419" sz="1800" u="none" cap="none" strike="noStrike">
                <a:solidFill>
                  <a:schemeClr val="dk1"/>
                </a:solidFill>
              </a:rPr>
              <a:t>snake_case</a:t>
            </a:r>
            <a:endParaRPr b="1" i="0" sz="1800" u="none" cap="none" strike="noStrike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definir una variable: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	</a:t>
            </a:r>
            <a:r>
              <a:rPr b="1" i="0" lang="es-419" sz="1800" u="none" cap="none" strike="noStrike">
                <a:solidFill>
                  <a:schemeClr val="dk1"/>
                </a:solidFill>
              </a:rPr>
              <a:t>nombre_variable = valor</a:t>
            </a:r>
            <a:endParaRPr b="1" i="0" sz="1800" u="none" cap="none" strike="noStrike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valor define el tipo de dato.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pueden definir variables </a:t>
            </a:r>
            <a:r>
              <a:rPr lang="es-419" sz="1800">
                <a:solidFill>
                  <a:schemeClr val="dk1"/>
                </a:solidFill>
              </a:rPr>
              <a:t>que pueden ser tratadas como constantes: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</a:rPr>
              <a:t>NUEVA_CONSTANTE = valor  </a:t>
            </a: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(En mayúscula)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4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NOMENCLATURAS DE VARIABLES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814275" y="1438525"/>
            <a:ext cx="73311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Nomenclaturas: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6525" y="2115150"/>
            <a:ext cx="6359801" cy="194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5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TIPOS DE DATOS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834625" y="1275675"/>
            <a:ext cx="3737400" cy="27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datos en Python: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Simples: 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Numéricos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texto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Booleanos (Verdadero/Falso)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4902600" y="1832050"/>
            <a:ext cx="3304500" cy="18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Compuestos: 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secuencias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mapeos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conjuntos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bytes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6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TIPOS DE DATOS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834625" y="1275675"/>
            <a:ext cx="7331100" cy="29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Numéricos: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int: (</a:t>
            </a: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 números enteros, No tiene parte decimal)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Ejemplo: numero = 3544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octal: </a:t>
            </a: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(Representa números octales)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Ejemplo: numero = 6730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hexadecimal:</a:t>
            </a: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(Representa números en formato hexadecimal)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Ejemplo: numero = DD8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7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TIPOS DE DATOS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7"/>
          <p:cNvSpPr txBox="1"/>
          <p:nvPr/>
        </p:nvSpPr>
        <p:spPr>
          <a:xfrm>
            <a:off x="834625" y="1275675"/>
            <a:ext cx="73311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Numéricos: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float: (</a:t>
            </a: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 números reales)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Ejemplo: numero = 3544.01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complex:</a:t>
            </a: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(Representan números complejos)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Contiene parte real y parte imaginaria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1" i="1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Función abs():</a:t>
            </a: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Obtiene el número complejo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1" i="1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Función conjugate():</a:t>
            </a: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Obtiene el conjugado de un número complejo.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Ejemplo: numero = 3544 + 4j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8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TIPOS DE DATOS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8"/>
          <p:cNvSpPr txBox="1"/>
          <p:nvPr/>
        </p:nvSpPr>
        <p:spPr>
          <a:xfrm>
            <a:off x="834625" y="1275675"/>
            <a:ext cx="73311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texto: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str: (</a:t>
            </a: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Representan cadena de caracteres </a:t>
            </a: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“string”</a:t>
            </a: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Función </a:t>
            </a:r>
            <a:r>
              <a:rPr b="1" i="0" lang="es-419" sz="1800" u="none" cap="none" strike="noStrike">
                <a:solidFill>
                  <a:schemeClr val="dk1"/>
                </a:solidFill>
              </a:rPr>
              <a:t>len()</a:t>
            </a: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Obtiene la longitud de una cadena de texto.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Función </a:t>
            </a:r>
            <a:r>
              <a:rPr b="1" i="0" lang="es-419" sz="1800" u="none" cap="none" strike="noStrike">
                <a:solidFill>
                  <a:schemeClr val="dk1"/>
                </a:solidFill>
              </a:rPr>
              <a:t>split()</a:t>
            </a: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Permite dividir una cadena de texto en subcadenas, separadas por un carácter específico.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</a:t>
            </a:r>
            <a:r>
              <a:rPr b="1" i="0" lang="es-419" sz="1800" u="none" cap="none" strike="noStrike">
                <a:solidFill>
                  <a:schemeClr val="dk1"/>
                </a:solidFill>
              </a:rPr>
              <a:t>saludo_inicial = “Hola mundo”</a:t>
            </a:r>
            <a:endParaRPr b="1" i="0" sz="1800" u="none" cap="none" strike="noStrike">
              <a:solidFill>
                <a:schemeClr val="dk1"/>
              </a:solidFill>
            </a:endParaRPr>
          </a:p>
        </p:txBody>
      </p:sp>
      <p:pic>
        <p:nvPicPr>
          <p:cNvPr id="116" name="Google Shape;11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9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TIPOS DE DATOS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9"/>
          <p:cNvSpPr txBox="1"/>
          <p:nvPr/>
        </p:nvSpPr>
        <p:spPr>
          <a:xfrm>
            <a:off x="834625" y="1275675"/>
            <a:ext cx="73311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booleanos: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bool: </a:t>
            </a: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(Admiten dos valores </a:t>
            </a:r>
            <a:r>
              <a:rPr b="1" i="0" lang="es-419" sz="1800" u="none" cap="none" strike="noStrike">
                <a:solidFill>
                  <a:schemeClr val="dk1"/>
                </a:solidFill>
              </a:rPr>
              <a:t>“verdadero” </a:t>
            </a: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i="0" lang="es-419" sz="1800" u="none" cap="none" strike="noStrike">
                <a:solidFill>
                  <a:schemeClr val="dk1"/>
                </a:solidFill>
              </a:rPr>
              <a:t>“falso”</a:t>
            </a: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Ejemplo: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</a:rPr>
              <a:t>variable=true</a:t>
            </a:r>
            <a:endParaRPr b="1" i="0" sz="18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</a:rPr>
              <a:t>variable=false</a:t>
            </a:r>
            <a:endParaRPr b="1" i="0" sz="18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g21557f0d68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21557f0d68b_0_0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TIPOS DE DATOS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g21557f0d68b_0_0"/>
          <p:cNvSpPr txBox="1"/>
          <p:nvPr/>
        </p:nvSpPr>
        <p:spPr>
          <a:xfrm>
            <a:off x="834625" y="1275675"/>
            <a:ext cx="7331100" cy="10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s-419" sz="1800">
                <a:solidFill>
                  <a:schemeClr val="dk1"/>
                </a:solidFill>
              </a:rPr>
              <a:t>Para saber </a:t>
            </a:r>
            <a:r>
              <a:rPr i="1" lang="es-419" sz="1800">
                <a:solidFill>
                  <a:schemeClr val="dk1"/>
                </a:solidFill>
              </a:rPr>
              <a:t>más</a:t>
            </a:r>
            <a:r>
              <a:rPr i="1" lang="es-419" sz="1800">
                <a:solidFill>
                  <a:schemeClr val="dk1"/>
                </a:solidFill>
              </a:rPr>
              <a:t> sobre los tipos de datos, ingresar</a:t>
            </a:r>
            <a:endParaRPr i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s-419" sz="1800">
                <a:solidFill>
                  <a:schemeClr val="dk1"/>
                </a:solidFill>
              </a:rPr>
              <a:t>al sitio web de Python:</a:t>
            </a:r>
            <a:r>
              <a:rPr lang="es-419" sz="1800">
                <a:solidFill>
                  <a:schemeClr val="dk1"/>
                </a:solidFill>
              </a:rPr>
              <a:t> </a:t>
            </a:r>
            <a:r>
              <a:rPr lang="es-419" sz="1800" u="sng">
                <a:solidFill>
                  <a:schemeClr val="hlink"/>
                </a:solidFill>
                <a:hlinkClick r:id="rId4"/>
              </a:rPr>
              <a:t>https://docs.python.org/es/3/library/datatypes.html</a:t>
            </a:r>
            <a:r>
              <a:rPr lang="es-419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21557f0d68b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21557f0d68b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43300" y="2313900"/>
            <a:ext cx="6506250" cy="23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0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TIPOS DE DATOS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10"/>
          <p:cNvSpPr txBox="1"/>
          <p:nvPr/>
        </p:nvSpPr>
        <p:spPr>
          <a:xfrm>
            <a:off x="973050" y="1262388"/>
            <a:ext cx="713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s-419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“AHORA VAMOS A PRACTICARLO”</a:t>
            </a:r>
            <a:endParaRPr b="1" i="1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5699" y="1805175"/>
            <a:ext cx="3971714" cy="26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5760" y="4065645"/>
            <a:ext cx="1843088" cy="325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600" y="3922941"/>
            <a:ext cx="601985" cy="70709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1"/>
          <p:cNvSpPr txBox="1"/>
          <p:nvPr/>
        </p:nvSpPr>
        <p:spPr>
          <a:xfrm>
            <a:off x="1195698" y="3997755"/>
            <a:ext cx="657300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by</a:t>
            </a:r>
            <a:endParaRPr b="0" i="0" sz="12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51" name="Google Shape;151;p11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48200" y="4091107"/>
            <a:ext cx="269200" cy="269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1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90690" y="4091743"/>
            <a:ext cx="268772" cy="268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1">
            <a:hlinkClick r:id="rId10"/>
          </p:cNvPr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76328" y="4091744"/>
            <a:ext cx="268772" cy="26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1">
            <a:hlinkClick r:id="rId12"/>
          </p:cNvPr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761948" y="4091803"/>
            <a:ext cx="268775" cy="268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1">
            <a:hlinkClick r:id="rId14"/>
          </p:cNvPr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005069" y="4091373"/>
            <a:ext cx="268772" cy="26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1">
            <a:hlinkClick r:id="rId16"/>
          </p:cNvPr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833817" y="4091742"/>
            <a:ext cx="268772" cy="26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1">
            <a:hlinkClick r:id="rId18"/>
          </p:cNvPr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419457" y="4091381"/>
            <a:ext cx="268775" cy="26877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1"/>
          <p:cNvSpPr txBox="1"/>
          <p:nvPr/>
        </p:nvSpPr>
        <p:spPr>
          <a:xfrm>
            <a:off x="1208426" y="1880412"/>
            <a:ext cx="32445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0" i="0" lang="es-419" sz="56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Gracias</a:t>
            </a:r>
            <a:endParaRPr b="0" i="0" sz="56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9" name="Google Shape;159;p11"/>
          <p:cNvSpPr txBox="1"/>
          <p:nvPr/>
        </p:nvSpPr>
        <p:spPr>
          <a:xfrm>
            <a:off x="4256116" y="2149411"/>
            <a:ext cx="420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“Transformamos realidades co-creando soluciones de alto impacto”</a:t>
            </a:r>
            <a:endParaRPr b="0" i="0" sz="14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