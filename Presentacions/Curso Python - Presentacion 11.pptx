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embeddedFontLst>
    <p:embeddedFont>
      <p:font typeface="Montserrat SemiBold"/>
      <p:regular r:id="rId22"/>
      <p:bold r:id="rId23"/>
      <p:italic r:id="rId24"/>
      <p:boldItalic r:id="rId25"/>
    </p:embeddedFont>
    <p:embeddedFont>
      <p:font typeface="Proxima Nova"/>
      <p:regular r:id="rId26"/>
      <p:bold r:id="rId27"/>
      <p:italic r:id="rId28"/>
      <p:boldItalic r:id="rId29"/>
    </p:embeddedFont>
    <p:embeddedFont>
      <p:font typeface="Montserrat"/>
      <p:regular r:id="rId30"/>
      <p:bold r:id="rId31"/>
      <p:italic r:id="rId32"/>
      <p:boldItalic r:id="rId33"/>
    </p:embeddedFont>
    <p:embeddedFont>
      <p:font typeface="Montserrat Medium"/>
      <p:regular r:id="rId34"/>
      <p:bold r:id="rId35"/>
      <p:italic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MontserratSemiBold-regular.fntdata"/><Relationship Id="rId21" Type="http://schemas.openxmlformats.org/officeDocument/2006/relationships/slide" Target="slides/slide16.xml"/><Relationship Id="rId24" Type="http://schemas.openxmlformats.org/officeDocument/2006/relationships/font" Target="fonts/MontserratSemiBold-italic.fntdata"/><Relationship Id="rId23" Type="http://schemas.openxmlformats.org/officeDocument/2006/relationships/font" Target="fonts/MontserratSemiBold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roximaNova-regular.fntdata"/><Relationship Id="rId25" Type="http://schemas.openxmlformats.org/officeDocument/2006/relationships/font" Target="fonts/MontserratSemiBold-boldItalic.fntdata"/><Relationship Id="rId28" Type="http://schemas.openxmlformats.org/officeDocument/2006/relationships/font" Target="fonts/ProximaNova-italic.fntdata"/><Relationship Id="rId27" Type="http://schemas.openxmlformats.org/officeDocument/2006/relationships/font" Target="fonts/ProximaNova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ProximaNova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Montserrat-bold.fntdata"/><Relationship Id="rId30" Type="http://schemas.openxmlformats.org/officeDocument/2006/relationships/font" Target="fonts/Montserrat-regular.fntdata"/><Relationship Id="rId11" Type="http://schemas.openxmlformats.org/officeDocument/2006/relationships/slide" Target="slides/slide6.xml"/><Relationship Id="rId33" Type="http://schemas.openxmlformats.org/officeDocument/2006/relationships/font" Target="fonts/Montserrat-boldItalic.fntdata"/><Relationship Id="rId10" Type="http://schemas.openxmlformats.org/officeDocument/2006/relationships/slide" Target="slides/slide5.xml"/><Relationship Id="rId32" Type="http://schemas.openxmlformats.org/officeDocument/2006/relationships/font" Target="fonts/Montserrat-italic.fntdata"/><Relationship Id="rId13" Type="http://schemas.openxmlformats.org/officeDocument/2006/relationships/slide" Target="slides/slide8.xml"/><Relationship Id="rId35" Type="http://schemas.openxmlformats.org/officeDocument/2006/relationships/font" Target="fonts/MontserratMedium-bold.fntdata"/><Relationship Id="rId12" Type="http://schemas.openxmlformats.org/officeDocument/2006/relationships/slide" Target="slides/slide7.xml"/><Relationship Id="rId34" Type="http://schemas.openxmlformats.org/officeDocument/2006/relationships/font" Target="fonts/MontserratMedium-regular.fntdata"/><Relationship Id="rId15" Type="http://schemas.openxmlformats.org/officeDocument/2006/relationships/slide" Target="slides/slide10.xml"/><Relationship Id="rId37" Type="http://schemas.openxmlformats.org/officeDocument/2006/relationships/font" Target="fonts/MontserratMedium-boldItalic.fntdata"/><Relationship Id="rId14" Type="http://schemas.openxmlformats.org/officeDocument/2006/relationships/slide" Target="slides/slide9.xml"/><Relationship Id="rId36" Type="http://schemas.openxmlformats.org/officeDocument/2006/relationships/font" Target="fonts/MontserratMedium-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0956d4990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g30956d4990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0956d49906_0_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g30956d49906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0956d49906_0_12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g30956d49906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0956d49906_0_18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g30956d49906_0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0956d49906_0_19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g30956d49906_0_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0956d49906_0_20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g30956d49906_0_2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0956d49906_0_2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g30956d49906_0_2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0956d49906_0_2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g30956d49906_0_2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0956d49906_0_18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g30956d49906_0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0956d49906_0_23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g30956d49906_0_2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0956d49906_0_24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g30956d49906_0_2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0956d49906_0_25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g30956d49906_0_2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0956d49906_0_26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g30956d49906_0_2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0956d49906_0_6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g30956d49906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2d404444029_0_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g2d404444029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0956d49906_0_6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g30956d49906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jpg"/><Relationship Id="rId4" Type="http://schemas.openxmlformats.org/officeDocument/2006/relationships/image" Target="../media/image5.png"/><Relationship Id="rId5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7.jpg"/><Relationship Id="rId5" Type="http://schemas.openxmlformats.org/officeDocument/2006/relationships/image" Target="../media/image1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7.jpg"/><Relationship Id="rId5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7.jpg"/><Relationship Id="rId5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7.jpg"/><Relationship Id="rId5" Type="http://schemas.openxmlformats.org/officeDocument/2006/relationships/image" Target="../media/image2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7.jpg"/><Relationship Id="rId5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7.jpg"/><Relationship Id="rId5" Type="http://schemas.openxmlformats.org/officeDocument/2006/relationships/image" Target="../media/image2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7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7.jpg"/><Relationship Id="rId5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7.jpg"/><Relationship Id="rId5" Type="http://schemas.openxmlformats.org/officeDocument/2006/relationships/image" Target="../media/image2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7.jpg"/><Relationship Id="rId5" Type="http://schemas.openxmlformats.org/officeDocument/2006/relationships/image" Target="../media/image2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7.jpg"/><Relationship Id="rId5" Type="http://schemas.openxmlformats.org/officeDocument/2006/relationships/image" Target="../media/image2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image" Target="../media/image2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1" Type="http://schemas.openxmlformats.org/officeDocument/2006/relationships/image" Target="../media/image26.png"/><Relationship Id="rId10" Type="http://schemas.openxmlformats.org/officeDocument/2006/relationships/hyperlink" Target="https://www.facebook.com/AYIGROUP" TargetMode="External"/><Relationship Id="rId13" Type="http://schemas.openxmlformats.org/officeDocument/2006/relationships/image" Target="../media/image21.png"/><Relationship Id="rId12" Type="http://schemas.openxmlformats.org/officeDocument/2006/relationships/hyperlink" Target="https://www.instagram.com/ayi.group/" TargetMode="External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jpg"/><Relationship Id="rId4" Type="http://schemas.openxmlformats.org/officeDocument/2006/relationships/image" Target="../media/image1.png"/><Relationship Id="rId9" Type="http://schemas.openxmlformats.org/officeDocument/2006/relationships/image" Target="../media/image23.png"/><Relationship Id="rId15" Type="http://schemas.openxmlformats.org/officeDocument/2006/relationships/image" Target="../media/image17.png"/><Relationship Id="rId14" Type="http://schemas.openxmlformats.org/officeDocument/2006/relationships/hyperlink" Target="https://www.linkedin.com/company/ayigroup/" TargetMode="External"/><Relationship Id="rId17" Type="http://schemas.openxmlformats.org/officeDocument/2006/relationships/image" Target="../media/image19.png"/><Relationship Id="rId16" Type="http://schemas.openxmlformats.org/officeDocument/2006/relationships/hyperlink" Target="https://open.spotify.com/show/2WzJUSpRTR1SYRATYZ4el5" TargetMode="External"/><Relationship Id="rId5" Type="http://schemas.openxmlformats.org/officeDocument/2006/relationships/image" Target="../media/image5.png"/><Relationship Id="rId19" Type="http://schemas.openxmlformats.org/officeDocument/2006/relationships/image" Target="../media/image18.png"/><Relationship Id="rId6" Type="http://schemas.openxmlformats.org/officeDocument/2006/relationships/hyperlink" Target="http://ayi.group" TargetMode="External"/><Relationship Id="rId18" Type="http://schemas.openxmlformats.org/officeDocument/2006/relationships/hyperlink" Target="https://twitter.com/ayi_group" TargetMode="External"/><Relationship Id="rId7" Type="http://schemas.openxmlformats.org/officeDocument/2006/relationships/image" Target="../media/image16.png"/><Relationship Id="rId8" Type="http://schemas.openxmlformats.org/officeDocument/2006/relationships/hyperlink" Target="https://www.youtube.com/channel/UCVp79aoTmjW500iAkjRT9DA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480375" y="1725000"/>
            <a:ext cx="8350800" cy="13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-419" sz="2300" u="none" cap="none" strike="noStrike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Capacitación de Python</a:t>
            </a:r>
            <a:endParaRPr b="0" i="0" sz="2300" u="none" cap="none" strike="noStrike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457200" lvl="0" marL="18288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457200" lvl="0" marL="18288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s-419" sz="2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Instructor: </a:t>
            </a:r>
            <a:r>
              <a:rPr b="0" i="0" lang="es-419" sz="2100" u="none" cap="none" strike="noStrike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Sergio Garzón</a:t>
            </a:r>
            <a:endParaRPr b="0" i="0" sz="11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37338" y="3508336"/>
            <a:ext cx="891486" cy="104714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/>
        </p:nvSpPr>
        <p:spPr>
          <a:xfrm>
            <a:off x="4074970" y="3890910"/>
            <a:ext cx="657300" cy="3693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863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419" sz="1200" u="none" cap="none" strike="noStrik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by</a:t>
            </a:r>
            <a:endParaRPr b="0" i="0" sz="1200" u="none" cap="none" strike="noStrike">
              <a:solidFill>
                <a:srgbClr val="FFFFF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58" name="Google Shape;58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78357" y="3958800"/>
            <a:ext cx="1843088" cy="3258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59413"/>
            <a:ext cx="9392851" cy="5262325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4"/>
          <p:cNvSpPr txBox="1"/>
          <p:nvPr/>
        </p:nvSpPr>
        <p:spPr>
          <a:xfrm>
            <a:off x="1207811" y="3995249"/>
            <a:ext cx="67284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-419" sz="27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Clase </a:t>
            </a:r>
            <a:r>
              <a:rPr b="1" lang="es-419" sz="2700">
                <a:latin typeface="Montserrat"/>
                <a:ea typeface="Montserrat"/>
                <a:cs typeface="Montserrat"/>
                <a:sym typeface="Montserrat"/>
              </a:rPr>
              <a:t>11</a:t>
            </a:r>
            <a:endParaRPr b="1" i="0" sz="27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5" name="Google Shape;65;p14"/>
          <p:cNvSpPr txBox="1"/>
          <p:nvPr/>
        </p:nvSpPr>
        <p:spPr>
          <a:xfrm>
            <a:off x="876000" y="724500"/>
            <a:ext cx="7331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-419" sz="27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CURSO DE PYTHON</a:t>
            </a:r>
            <a:endParaRPr b="0" i="0" sz="27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66" name="Google Shape;6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91250" y="1365475"/>
            <a:ext cx="4610351" cy="2581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59413"/>
            <a:ext cx="9392851" cy="5262325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5"/>
          <p:cNvSpPr txBox="1"/>
          <p:nvPr/>
        </p:nvSpPr>
        <p:spPr>
          <a:xfrm>
            <a:off x="876000" y="724500"/>
            <a:ext cx="7331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 sz="2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ESTRUCTURAS CONDICIONALES</a:t>
            </a:r>
            <a:endParaRPr b="1" i="0" sz="27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3" name="Google Shape;73;p15"/>
          <p:cNvSpPr txBox="1"/>
          <p:nvPr/>
        </p:nvSpPr>
        <p:spPr>
          <a:xfrm>
            <a:off x="942750" y="1180675"/>
            <a:ext cx="7137000" cy="18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s-419" sz="1800">
                <a:solidFill>
                  <a:schemeClr val="dk1"/>
                </a:solidFill>
              </a:rPr>
              <a:t>Estructura condicional simple</a:t>
            </a:r>
            <a:endParaRPr b="1" sz="18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419">
                <a:solidFill>
                  <a:schemeClr val="dk1"/>
                </a:solidFill>
              </a:rPr>
              <a:t>Nos permite ejecutar una o </a:t>
            </a:r>
            <a:r>
              <a:rPr lang="es-419">
                <a:solidFill>
                  <a:schemeClr val="dk1"/>
                </a:solidFill>
              </a:rPr>
              <a:t>más</a:t>
            </a:r>
            <a:r>
              <a:rPr lang="es-419">
                <a:solidFill>
                  <a:schemeClr val="dk1"/>
                </a:solidFill>
              </a:rPr>
              <a:t> instrucciones, siempre y cuando se cumpla una determinada </a:t>
            </a:r>
            <a:r>
              <a:rPr lang="es-419">
                <a:solidFill>
                  <a:schemeClr val="dk1"/>
                </a:solidFill>
              </a:rPr>
              <a:t>condición</a:t>
            </a:r>
            <a:r>
              <a:rPr lang="es-419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1" lang="es-419">
                <a:solidFill>
                  <a:schemeClr val="dk1"/>
                </a:solidFill>
              </a:rPr>
              <a:t>Sintaxis del lenguaje:</a:t>
            </a:r>
            <a:endParaRPr i="1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rgbClr val="BF9000"/>
              </a:solidFill>
            </a:endParaRPr>
          </a:p>
        </p:txBody>
      </p:sp>
      <p:pic>
        <p:nvPicPr>
          <p:cNvPr id="74" name="Google Shape;7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34750" y="1180673"/>
            <a:ext cx="727150" cy="798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95488" y="3114775"/>
            <a:ext cx="2692125" cy="105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59413"/>
            <a:ext cx="9392851" cy="5262325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6"/>
          <p:cNvSpPr txBox="1"/>
          <p:nvPr/>
        </p:nvSpPr>
        <p:spPr>
          <a:xfrm>
            <a:off x="876000" y="724500"/>
            <a:ext cx="7331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 sz="2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ESTRUCTURAS CONDICIONALES</a:t>
            </a:r>
            <a:endParaRPr b="1" i="0" sz="27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2" name="Google Shape;82;p16"/>
          <p:cNvSpPr txBox="1"/>
          <p:nvPr/>
        </p:nvSpPr>
        <p:spPr>
          <a:xfrm>
            <a:off x="942750" y="1180675"/>
            <a:ext cx="7137000" cy="13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s-419" sz="1800">
                <a:solidFill>
                  <a:schemeClr val="dk1"/>
                </a:solidFill>
              </a:rPr>
              <a:t>Estructura condicional simple</a:t>
            </a:r>
            <a:endParaRPr b="1" sz="18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1" lang="es-419">
                <a:solidFill>
                  <a:schemeClr val="dk1"/>
                </a:solidFill>
              </a:rPr>
              <a:t>Ejemplo de código:</a:t>
            </a:r>
            <a:endParaRPr i="1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rgbClr val="BF9000"/>
              </a:solidFill>
            </a:endParaRPr>
          </a:p>
        </p:txBody>
      </p:sp>
      <p:pic>
        <p:nvPicPr>
          <p:cNvPr id="83" name="Google Shape;8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34750" y="1180673"/>
            <a:ext cx="727150" cy="798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58000" y="2647063"/>
            <a:ext cx="5276850" cy="1209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59413"/>
            <a:ext cx="9392851" cy="5262325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7"/>
          <p:cNvSpPr txBox="1"/>
          <p:nvPr/>
        </p:nvSpPr>
        <p:spPr>
          <a:xfrm>
            <a:off x="876000" y="724500"/>
            <a:ext cx="7331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 sz="2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ESTRUCTURAS CONDICIONALES</a:t>
            </a:r>
            <a:endParaRPr b="1" i="0" sz="27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1" name="Google Shape;91;p17"/>
          <p:cNvSpPr txBox="1"/>
          <p:nvPr/>
        </p:nvSpPr>
        <p:spPr>
          <a:xfrm>
            <a:off x="942750" y="1180675"/>
            <a:ext cx="7137000" cy="18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s-419" sz="1800">
                <a:solidFill>
                  <a:schemeClr val="dk1"/>
                </a:solidFill>
              </a:rPr>
              <a:t>Estructura condicional doble</a:t>
            </a:r>
            <a:endParaRPr b="1" sz="18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419">
                <a:solidFill>
                  <a:schemeClr val="dk1"/>
                </a:solidFill>
              </a:rPr>
              <a:t>Nos permite ejecutar una o más instrucciones, si se cumple una condición, si no se cumple, se ejecutan otras instrucciones.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1" lang="es-419">
                <a:solidFill>
                  <a:schemeClr val="dk1"/>
                </a:solidFill>
              </a:rPr>
              <a:t>Sintaxis del lenguaje:</a:t>
            </a:r>
            <a:endParaRPr i="1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rgbClr val="BF9000"/>
              </a:solidFill>
            </a:endParaRPr>
          </a:p>
        </p:txBody>
      </p:sp>
      <p:pic>
        <p:nvPicPr>
          <p:cNvPr id="92" name="Google Shape;9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34750" y="1180673"/>
            <a:ext cx="727150" cy="798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55225" y="2893403"/>
            <a:ext cx="3633550" cy="1670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59413"/>
            <a:ext cx="9392851" cy="5262325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8"/>
          <p:cNvSpPr txBox="1"/>
          <p:nvPr/>
        </p:nvSpPr>
        <p:spPr>
          <a:xfrm>
            <a:off x="876000" y="724500"/>
            <a:ext cx="7331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 sz="2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ESTRUCTURAS CONDICIONALES</a:t>
            </a:r>
            <a:endParaRPr b="1" i="0" sz="27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0" name="Google Shape;100;p18"/>
          <p:cNvSpPr txBox="1"/>
          <p:nvPr/>
        </p:nvSpPr>
        <p:spPr>
          <a:xfrm>
            <a:off x="942750" y="1180675"/>
            <a:ext cx="7137000" cy="13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s-419" sz="1800">
                <a:solidFill>
                  <a:schemeClr val="dk1"/>
                </a:solidFill>
              </a:rPr>
              <a:t>Estructura condicional doble</a:t>
            </a:r>
            <a:endParaRPr b="1" sz="18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1" lang="es-419">
                <a:solidFill>
                  <a:schemeClr val="dk1"/>
                </a:solidFill>
              </a:rPr>
              <a:t>Ejemplo de código:</a:t>
            </a:r>
            <a:endParaRPr i="1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rgbClr val="BF9000"/>
              </a:solidFill>
            </a:endParaRPr>
          </a:p>
        </p:txBody>
      </p:sp>
      <p:pic>
        <p:nvPicPr>
          <p:cNvPr id="101" name="Google Shape;101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34750" y="1180673"/>
            <a:ext cx="727150" cy="798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810350" y="2571750"/>
            <a:ext cx="5772150" cy="1885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59413"/>
            <a:ext cx="9392851" cy="5262325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9"/>
          <p:cNvSpPr txBox="1"/>
          <p:nvPr/>
        </p:nvSpPr>
        <p:spPr>
          <a:xfrm>
            <a:off x="876000" y="724500"/>
            <a:ext cx="7331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 sz="2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ESTRUCTURAS CONDICIONALES</a:t>
            </a:r>
            <a:endParaRPr b="1" i="0" sz="27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9" name="Google Shape;109;p19"/>
          <p:cNvSpPr txBox="1"/>
          <p:nvPr/>
        </p:nvSpPr>
        <p:spPr>
          <a:xfrm>
            <a:off x="942750" y="1180675"/>
            <a:ext cx="7137000" cy="18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s-419" sz="1800">
                <a:solidFill>
                  <a:schemeClr val="dk1"/>
                </a:solidFill>
              </a:rPr>
              <a:t>Estructura condicional </a:t>
            </a:r>
            <a:r>
              <a:rPr b="1" lang="es-419" sz="1800">
                <a:solidFill>
                  <a:schemeClr val="dk1"/>
                </a:solidFill>
              </a:rPr>
              <a:t>múltiple</a:t>
            </a:r>
            <a:endParaRPr b="1" sz="18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419">
                <a:solidFill>
                  <a:schemeClr val="dk1"/>
                </a:solidFill>
              </a:rPr>
              <a:t>Nos permite evaluar </a:t>
            </a:r>
            <a:r>
              <a:rPr lang="es-419">
                <a:solidFill>
                  <a:schemeClr val="dk1"/>
                </a:solidFill>
              </a:rPr>
              <a:t>más</a:t>
            </a:r>
            <a:r>
              <a:rPr lang="es-419">
                <a:solidFill>
                  <a:schemeClr val="dk1"/>
                </a:solidFill>
              </a:rPr>
              <a:t> de una condiciones, y ejecutar </a:t>
            </a:r>
            <a:r>
              <a:rPr lang="es-419">
                <a:solidFill>
                  <a:schemeClr val="dk1"/>
                </a:solidFill>
              </a:rPr>
              <a:t>más</a:t>
            </a:r>
            <a:r>
              <a:rPr lang="es-419">
                <a:solidFill>
                  <a:schemeClr val="dk1"/>
                </a:solidFill>
              </a:rPr>
              <a:t> de una sentencia de acuerdo a la </a:t>
            </a:r>
            <a:r>
              <a:rPr lang="es-419">
                <a:solidFill>
                  <a:schemeClr val="dk1"/>
                </a:solidFill>
              </a:rPr>
              <a:t>condición</a:t>
            </a:r>
            <a:r>
              <a:rPr lang="es-419">
                <a:solidFill>
                  <a:schemeClr val="dk1"/>
                </a:solidFill>
              </a:rPr>
              <a:t> que se cumpla.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1" lang="es-419">
                <a:solidFill>
                  <a:schemeClr val="dk1"/>
                </a:solidFill>
              </a:rPr>
              <a:t>Sintaxis del lenguaje:</a:t>
            </a:r>
            <a:endParaRPr i="1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rgbClr val="BF9000"/>
              </a:solidFill>
            </a:endParaRPr>
          </a:p>
        </p:txBody>
      </p:sp>
      <p:pic>
        <p:nvPicPr>
          <p:cNvPr id="110" name="Google Shape;110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34750" y="1180673"/>
            <a:ext cx="727150" cy="798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28950" y="2676788"/>
            <a:ext cx="3086100" cy="1857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59413"/>
            <a:ext cx="9392851" cy="5262325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20"/>
          <p:cNvSpPr txBox="1"/>
          <p:nvPr/>
        </p:nvSpPr>
        <p:spPr>
          <a:xfrm>
            <a:off x="876000" y="724500"/>
            <a:ext cx="7331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 sz="2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ESTRUCTURAS CONDICIONALES</a:t>
            </a:r>
            <a:endParaRPr b="1" i="0" sz="27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8" name="Google Shape;118;p20"/>
          <p:cNvSpPr txBox="1"/>
          <p:nvPr/>
        </p:nvSpPr>
        <p:spPr>
          <a:xfrm>
            <a:off x="942750" y="1180675"/>
            <a:ext cx="7137000" cy="13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s-419" sz="1800">
                <a:solidFill>
                  <a:schemeClr val="dk1"/>
                </a:solidFill>
              </a:rPr>
              <a:t>Estructura condicional </a:t>
            </a:r>
            <a:r>
              <a:rPr b="1" lang="es-419" sz="1800">
                <a:solidFill>
                  <a:schemeClr val="dk1"/>
                </a:solidFill>
              </a:rPr>
              <a:t>múltiple</a:t>
            </a:r>
            <a:endParaRPr b="1" sz="18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1" lang="es-419">
                <a:solidFill>
                  <a:schemeClr val="dk1"/>
                </a:solidFill>
              </a:rPr>
              <a:t>Ejemplo de código:</a:t>
            </a:r>
            <a:endParaRPr i="1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rgbClr val="BF9000"/>
              </a:solidFill>
            </a:endParaRPr>
          </a:p>
        </p:txBody>
      </p:sp>
      <p:pic>
        <p:nvPicPr>
          <p:cNvPr id="119" name="Google Shape;119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34750" y="1180673"/>
            <a:ext cx="727150" cy="798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01325" y="2376125"/>
            <a:ext cx="6190200" cy="227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59413"/>
            <a:ext cx="9392851" cy="52623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1"/>
          <p:cNvSpPr txBox="1"/>
          <p:nvPr/>
        </p:nvSpPr>
        <p:spPr>
          <a:xfrm>
            <a:off x="876000" y="724500"/>
            <a:ext cx="7331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 sz="2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ESTRUCTURAS REPETITIVAS</a:t>
            </a:r>
            <a:endParaRPr b="1" i="0" sz="27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7" name="Google Shape;127;p21"/>
          <p:cNvSpPr txBox="1"/>
          <p:nvPr/>
        </p:nvSpPr>
        <p:spPr>
          <a:xfrm>
            <a:off x="942750" y="1180675"/>
            <a:ext cx="7137000" cy="18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s-419" sz="1800">
                <a:solidFill>
                  <a:schemeClr val="dk1"/>
                </a:solidFill>
              </a:rPr>
              <a:t>Bucles en Python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>
                <a:solidFill>
                  <a:schemeClr val="dk1"/>
                </a:solidFill>
              </a:rPr>
              <a:t>Los bucles nos permiten repetir un conjunto de instrucciones varias veces, hasta que se cumpla una condición.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>
                <a:solidFill>
                  <a:schemeClr val="dk1"/>
                </a:solidFill>
              </a:rPr>
              <a:t>En Python, existen dos tipos de bucles: </a:t>
            </a:r>
            <a:r>
              <a:rPr b="1" lang="es-419">
                <a:solidFill>
                  <a:schemeClr val="dk1"/>
                </a:solidFill>
              </a:rPr>
              <a:t>While </a:t>
            </a:r>
            <a:r>
              <a:rPr lang="es-419">
                <a:solidFill>
                  <a:schemeClr val="dk1"/>
                </a:solidFill>
              </a:rPr>
              <a:t>y </a:t>
            </a:r>
            <a:r>
              <a:rPr b="1" lang="es-419">
                <a:solidFill>
                  <a:schemeClr val="dk1"/>
                </a:solidFill>
              </a:rPr>
              <a:t>for</a:t>
            </a:r>
            <a:r>
              <a:rPr lang="es-419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rgbClr val="BF9000"/>
              </a:solidFill>
            </a:endParaRPr>
          </a:p>
        </p:txBody>
      </p:sp>
      <p:pic>
        <p:nvPicPr>
          <p:cNvPr id="128" name="Google Shape;128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34750" y="1180673"/>
            <a:ext cx="727150" cy="79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59413"/>
            <a:ext cx="9392851" cy="5262325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2"/>
          <p:cNvSpPr txBox="1"/>
          <p:nvPr/>
        </p:nvSpPr>
        <p:spPr>
          <a:xfrm>
            <a:off x="876000" y="724500"/>
            <a:ext cx="7331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 sz="2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ESTRUCTURAS REPETITIVAS</a:t>
            </a:r>
            <a:endParaRPr b="1" sz="2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5" name="Google Shape;135;p22"/>
          <p:cNvSpPr txBox="1"/>
          <p:nvPr/>
        </p:nvSpPr>
        <p:spPr>
          <a:xfrm>
            <a:off x="942750" y="1180675"/>
            <a:ext cx="7137000" cy="18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s-419" sz="1800">
                <a:solidFill>
                  <a:schemeClr val="dk1"/>
                </a:solidFill>
              </a:rPr>
              <a:t>Bucle While</a:t>
            </a:r>
            <a:endParaRPr b="1" sz="18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419">
                <a:solidFill>
                  <a:schemeClr val="dk1"/>
                </a:solidFill>
              </a:rPr>
              <a:t>El bucle While se </a:t>
            </a:r>
            <a:r>
              <a:rPr lang="es-419">
                <a:solidFill>
                  <a:schemeClr val="dk1"/>
                </a:solidFill>
              </a:rPr>
              <a:t>ejecutará</a:t>
            </a:r>
            <a:r>
              <a:rPr lang="es-419">
                <a:solidFill>
                  <a:schemeClr val="dk1"/>
                </a:solidFill>
              </a:rPr>
              <a:t> mientras se cumpla una condición.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1" lang="es-419">
                <a:solidFill>
                  <a:schemeClr val="dk1"/>
                </a:solidFill>
              </a:rPr>
              <a:t>Sintaxis del lenguaje:</a:t>
            </a:r>
            <a:endParaRPr i="1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rgbClr val="BF9000"/>
              </a:solidFill>
            </a:endParaRPr>
          </a:p>
        </p:txBody>
      </p:sp>
      <p:pic>
        <p:nvPicPr>
          <p:cNvPr id="136" name="Google Shape;136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34750" y="1180673"/>
            <a:ext cx="727150" cy="798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37019" y="2899350"/>
            <a:ext cx="3469975" cy="1181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59413"/>
            <a:ext cx="9392851" cy="5262325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23"/>
          <p:cNvSpPr txBox="1"/>
          <p:nvPr/>
        </p:nvSpPr>
        <p:spPr>
          <a:xfrm>
            <a:off x="876000" y="724500"/>
            <a:ext cx="7331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 sz="2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ESTRUCTURAS REPETITIVAS</a:t>
            </a:r>
            <a:endParaRPr b="1" sz="2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4" name="Google Shape;144;p23"/>
          <p:cNvSpPr txBox="1"/>
          <p:nvPr/>
        </p:nvSpPr>
        <p:spPr>
          <a:xfrm>
            <a:off x="942750" y="1180675"/>
            <a:ext cx="7137000" cy="18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s-419" sz="1800">
                <a:solidFill>
                  <a:schemeClr val="dk1"/>
                </a:solidFill>
              </a:rPr>
              <a:t>Bucle While</a:t>
            </a:r>
            <a:endParaRPr b="1" sz="18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1" lang="es-419">
                <a:solidFill>
                  <a:schemeClr val="dk1"/>
                </a:solidFill>
              </a:rPr>
              <a:t>Ejemplo de código:</a:t>
            </a:r>
            <a:endParaRPr i="1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rgbClr val="BF9000"/>
              </a:solidFill>
            </a:endParaRPr>
          </a:p>
        </p:txBody>
      </p:sp>
      <p:pic>
        <p:nvPicPr>
          <p:cNvPr id="145" name="Google Shape;145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34750" y="1180673"/>
            <a:ext cx="727150" cy="798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91250" y="2642675"/>
            <a:ext cx="6610350" cy="140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59413"/>
            <a:ext cx="9392851" cy="5262325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24"/>
          <p:cNvSpPr txBox="1"/>
          <p:nvPr/>
        </p:nvSpPr>
        <p:spPr>
          <a:xfrm>
            <a:off x="876000" y="724500"/>
            <a:ext cx="7331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 sz="2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ESTRUCTURAS REPETITIVAS</a:t>
            </a:r>
            <a:endParaRPr b="1" sz="2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3" name="Google Shape;153;p24"/>
          <p:cNvSpPr txBox="1"/>
          <p:nvPr/>
        </p:nvSpPr>
        <p:spPr>
          <a:xfrm>
            <a:off x="942750" y="1180675"/>
            <a:ext cx="7137000" cy="18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s-419" sz="1800">
                <a:solidFill>
                  <a:schemeClr val="dk1"/>
                </a:solidFill>
              </a:rPr>
              <a:t>Bucle For</a:t>
            </a:r>
            <a:endParaRPr b="1" sz="18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419">
                <a:solidFill>
                  <a:schemeClr val="dk1"/>
                </a:solidFill>
              </a:rPr>
              <a:t>El bucle for nos permite iterar sobre una secuencia de elementos (listas, tuplas, diccionarios).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1" lang="es-419">
                <a:solidFill>
                  <a:schemeClr val="dk1"/>
                </a:solidFill>
              </a:rPr>
              <a:t>Sintaxis del lenguaje:</a:t>
            </a:r>
            <a:endParaRPr i="1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rgbClr val="BF9000"/>
              </a:solidFill>
            </a:endParaRPr>
          </a:p>
        </p:txBody>
      </p:sp>
      <p:pic>
        <p:nvPicPr>
          <p:cNvPr id="154" name="Google Shape;154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34750" y="1180673"/>
            <a:ext cx="727150" cy="798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30413" y="3181627"/>
            <a:ext cx="4083175" cy="114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59413"/>
            <a:ext cx="9392851" cy="5262325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25"/>
          <p:cNvSpPr txBox="1"/>
          <p:nvPr/>
        </p:nvSpPr>
        <p:spPr>
          <a:xfrm>
            <a:off x="876000" y="724500"/>
            <a:ext cx="7331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 sz="2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ESTRUCTURAS REPETITIVAS</a:t>
            </a:r>
            <a:endParaRPr b="1" sz="2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2" name="Google Shape;162;p25"/>
          <p:cNvSpPr txBox="1"/>
          <p:nvPr/>
        </p:nvSpPr>
        <p:spPr>
          <a:xfrm>
            <a:off x="942750" y="1180675"/>
            <a:ext cx="7137000" cy="18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s-419" sz="1800">
                <a:solidFill>
                  <a:schemeClr val="dk1"/>
                </a:solidFill>
              </a:rPr>
              <a:t>Bucle For</a:t>
            </a:r>
            <a:endParaRPr b="1" sz="18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1" lang="es-419">
                <a:solidFill>
                  <a:schemeClr val="dk1"/>
                </a:solidFill>
              </a:rPr>
              <a:t>Ejemplo de código:</a:t>
            </a:r>
            <a:endParaRPr i="1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rgbClr val="BF9000"/>
              </a:solidFill>
            </a:endParaRPr>
          </a:p>
        </p:txBody>
      </p:sp>
      <p:pic>
        <p:nvPicPr>
          <p:cNvPr id="163" name="Google Shape;163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34750" y="1180673"/>
            <a:ext cx="727150" cy="798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95550" y="2663850"/>
            <a:ext cx="6401750" cy="1114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59413"/>
            <a:ext cx="9392851" cy="5262325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6"/>
          <p:cNvSpPr txBox="1"/>
          <p:nvPr/>
        </p:nvSpPr>
        <p:spPr>
          <a:xfrm>
            <a:off x="973050" y="1262388"/>
            <a:ext cx="713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1" i="1" lang="es-419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“AHORA VAMOS A PRACTICARLO”</a:t>
            </a:r>
            <a:endParaRPr b="1" i="1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1" name="Google Shape;171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55699" y="1805175"/>
            <a:ext cx="3971714" cy="265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6"/>
          <p:cNvSpPr txBox="1"/>
          <p:nvPr/>
        </p:nvSpPr>
        <p:spPr>
          <a:xfrm>
            <a:off x="906450" y="685375"/>
            <a:ext cx="7331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 sz="2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EJERCITACIÓN</a:t>
            </a:r>
            <a:endParaRPr b="1" sz="2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59413"/>
            <a:ext cx="9392851" cy="5262325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7"/>
          <p:cNvSpPr txBox="1"/>
          <p:nvPr/>
        </p:nvSpPr>
        <p:spPr>
          <a:xfrm>
            <a:off x="815700" y="593825"/>
            <a:ext cx="7524000" cy="396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s-419" sz="2600">
                <a:latin typeface="Montserrat"/>
                <a:ea typeface="Montserrat"/>
                <a:cs typeface="Montserrat"/>
                <a:sym typeface="Montserrat"/>
              </a:rPr>
              <a:t>EJERCICIOS</a:t>
            </a:r>
            <a:endParaRPr b="1" sz="26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latin typeface="Montserrat"/>
                <a:ea typeface="Montserrat"/>
                <a:cs typeface="Montserrat"/>
                <a:sym typeface="Montserrat"/>
              </a:rPr>
              <a:t>1) </a:t>
            </a:r>
            <a:r>
              <a:rPr lang="es-419">
                <a:latin typeface="Montserrat Medium"/>
                <a:ea typeface="Montserrat Medium"/>
                <a:cs typeface="Montserrat Medium"/>
                <a:sym typeface="Montserrat Medium"/>
              </a:rPr>
              <a:t>Realizar un programa de Python que solicite ingresar la edad de una persona en años, a partir de este dato ingresado calcular la cantidad de </a:t>
            </a:r>
            <a:r>
              <a:rPr lang="es-419">
                <a:latin typeface="Montserrat Medium"/>
                <a:ea typeface="Montserrat Medium"/>
                <a:cs typeface="Montserrat Medium"/>
                <a:sym typeface="Montserrat Medium"/>
              </a:rPr>
              <a:t>días</a:t>
            </a:r>
            <a:r>
              <a:rPr lang="es-419">
                <a:latin typeface="Montserrat Medium"/>
                <a:ea typeface="Montserrat Medium"/>
                <a:cs typeface="Montserrat Medium"/>
                <a:sym typeface="Montserrat Medium"/>
              </a:rPr>
              <a:t> que la persona </a:t>
            </a:r>
            <a:r>
              <a:rPr lang="es-419">
                <a:latin typeface="Montserrat Medium"/>
                <a:ea typeface="Montserrat Medium"/>
                <a:cs typeface="Montserrat Medium"/>
                <a:sym typeface="Montserrat Medium"/>
              </a:rPr>
              <a:t>está</a:t>
            </a:r>
            <a:r>
              <a:rPr lang="es-419">
                <a:latin typeface="Montserrat Medium"/>
                <a:ea typeface="Montserrat Medium"/>
                <a:cs typeface="Montserrat Medium"/>
                <a:sym typeface="Montserrat Medium"/>
              </a:rPr>
              <a:t> viviendo al </a:t>
            </a:r>
            <a:r>
              <a:rPr lang="es-419">
                <a:latin typeface="Montserrat Medium"/>
                <a:ea typeface="Montserrat Medium"/>
                <a:cs typeface="Montserrat Medium"/>
                <a:sym typeface="Montserrat Medium"/>
              </a:rPr>
              <a:t>día</a:t>
            </a:r>
            <a:r>
              <a:rPr lang="es-419">
                <a:latin typeface="Montserrat Medium"/>
                <a:ea typeface="Montserrat Medium"/>
                <a:cs typeface="Montserrat Medium"/>
                <a:sym typeface="Montserrat Medium"/>
              </a:rPr>
              <a:t> de hoy (Teniendo en cuenta que un año tiene 365 </a:t>
            </a:r>
            <a:r>
              <a:rPr lang="es-419">
                <a:latin typeface="Montserrat Medium"/>
                <a:ea typeface="Montserrat Medium"/>
                <a:cs typeface="Montserrat Medium"/>
                <a:sym typeface="Montserrat Medium"/>
              </a:rPr>
              <a:t>días</a:t>
            </a:r>
            <a:r>
              <a:rPr lang="es-419">
                <a:latin typeface="Montserrat Medium"/>
                <a:ea typeface="Montserrat Medium"/>
                <a:cs typeface="Montserrat Medium"/>
                <a:sym typeface="Montserrat Medium"/>
              </a:rPr>
              <a:t>).</a:t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latin typeface="Montserrat"/>
                <a:ea typeface="Montserrat"/>
                <a:cs typeface="Montserrat"/>
                <a:sym typeface="Montserrat"/>
              </a:rPr>
              <a:t>2) </a:t>
            </a:r>
            <a:r>
              <a:rPr lang="es-419">
                <a:latin typeface="Montserrat Medium"/>
                <a:ea typeface="Montserrat Medium"/>
                <a:cs typeface="Montserrat Medium"/>
                <a:sym typeface="Montserrat Medium"/>
              </a:rPr>
              <a:t>Realizar un programa de Python donde se ingrese un valor </a:t>
            </a:r>
            <a:r>
              <a:rPr lang="es-419">
                <a:latin typeface="Montserrat Medium"/>
                <a:ea typeface="Montserrat Medium"/>
                <a:cs typeface="Montserrat Medium"/>
                <a:sym typeface="Montserrat Medium"/>
              </a:rPr>
              <a:t>numérico</a:t>
            </a:r>
            <a:r>
              <a:rPr lang="es-419">
                <a:latin typeface="Montserrat Medium"/>
                <a:ea typeface="Montserrat Medium"/>
                <a:cs typeface="Montserrat Medium"/>
                <a:sym typeface="Montserrat Medium"/>
              </a:rPr>
              <a:t> por teclado, a partir de este dato, realizar un contador decreciente, imprimir cada uno de los valores hasta llegar al </a:t>
            </a:r>
            <a:r>
              <a:rPr lang="es-419">
                <a:latin typeface="Montserrat Medium"/>
                <a:ea typeface="Montserrat Medium"/>
                <a:cs typeface="Montserrat Medium"/>
                <a:sym typeface="Montserrat Medium"/>
              </a:rPr>
              <a:t>número</a:t>
            </a:r>
            <a:r>
              <a:rPr lang="es-419">
                <a:latin typeface="Montserrat Medium"/>
                <a:ea typeface="Montserrat Medium"/>
                <a:cs typeface="Montserrat Medium"/>
                <a:sym typeface="Montserrat Medium"/>
              </a:rPr>
              <a:t> 0 (cero).</a:t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latin typeface="Montserrat"/>
                <a:ea typeface="Montserrat"/>
                <a:cs typeface="Montserrat"/>
                <a:sym typeface="Montserrat"/>
              </a:rPr>
              <a:t>3) </a:t>
            </a:r>
            <a:r>
              <a:rPr lang="es-419">
                <a:latin typeface="Montserrat Medium"/>
                <a:ea typeface="Montserrat Medium"/>
                <a:cs typeface="Montserrat Medium"/>
                <a:sym typeface="Montserrat Medium"/>
              </a:rPr>
              <a:t>Realizar un programa de Python que solicite el ingreso de un </a:t>
            </a:r>
            <a:r>
              <a:rPr lang="es-419">
                <a:latin typeface="Montserrat Medium"/>
                <a:ea typeface="Montserrat Medium"/>
                <a:cs typeface="Montserrat Medium"/>
                <a:sym typeface="Montserrat Medium"/>
              </a:rPr>
              <a:t>número</a:t>
            </a:r>
            <a:r>
              <a:rPr lang="es-419">
                <a:latin typeface="Montserrat Medium"/>
                <a:ea typeface="Montserrat Medium"/>
                <a:cs typeface="Montserrat Medium"/>
                <a:sym typeface="Montserrat Medium"/>
              </a:rPr>
              <a:t> del 1 al 10, una vez ingresado mostrar toda su tabla de multiplicación, por ejemplo: Si se ingreso el valor de 2, se debe mostrar toda la tabla del 2, en lo posible de esta forma:</a:t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419">
                <a:latin typeface="Montserrat"/>
                <a:ea typeface="Montserrat"/>
                <a:cs typeface="Montserrat"/>
                <a:sym typeface="Montserrat"/>
              </a:rPr>
              <a:t>	2x1=2, 2x2=4, 2x3=6, 2x4=8, 2x5=10, 2x6=12, 2x7=14, 2x8=16, 2x9=18, 2x10=20</a:t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95760" y="4065645"/>
            <a:ext cx="1843088" cy="32585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6600" y="3922941"/>
            <a:ext cx="601985" cy="707093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8"/>
          <p:cNvSpPr txBox="1"/>
          <p:nvPr/>
        </p:nvSpPr>
        <p:spPr>
          <a:xfrm>
            <a:off x="1195698" y="3997755"/>
            <a:ext cx="657300" cy="3693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863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419" sz="12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by</a:t>
            </a:r>
            <a:endParaRPr b="0" i="0" sz="1200" u="none" cap="none" strike="noStrike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87" name="Google Shape;187;p28">
            <a:hlinkClick r:id="rId6"/>
          </p:cNvPr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248200" y="4091107"/>
            <a:ext cx="269200" cy="2693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8">
            <a:hlinkClick r:id="rId8"/>
          </p:cNvPr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590690" y="4091743"/>
            <a:ext cx="268772" cy="2688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8">
            <a:hlinkClick r:id="rId10"/>
          </p:cNvPr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176328" y="4091744"/>
            <a:ext cx="268772" cy="2688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8">
            <a:hlinkClick r:id="rId12"/>
          </p:cNvPr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5761948" y="4091803"/>
            <a:ext cx="268775" cy="2687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8">
            <a:hlinkClick r:id="rId14"/>
          </p:cNvPr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7005069" y="4091373"/>
            <a:ext cx="268772" cy="2687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8">
            <a:hlinkClick r:id="rId16"/>
          </p:cNvPr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7833817" y="4091742"/>
            <a:ext cx="268772" cy="2688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8">
            <a:hlinkClick r:id="rId18"/>
          </p:cNvPr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7419457" y="4091381"/>
            <a:ext cx="268775" cy="26877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8"/>
          <p:cNvSpPr txBox="1"/>
          <p:nvPr/>
        </p:nvSpPr>
        <p:spPr>
          <a:xfrm>
            <a:off x="1208426" y="1880412"/>
            <a:ext cx="3244500" cy="9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1" i="0" lang="es-419" sz="5600" u="none" cap="none" strike="noStrike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Gracias</a:t>
            </a:r>
            <a:endParaRPr b="1" i="0" sz="5600" u="none" cap="none" strike="noStrike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95" name="Google Shape;195;p28"/>
          <p:cNvSpPr txBox="1"/>
          <p:nvPr/>
        </p:nvSpPr>
        <p:spPr>
          <a:xfrm>
            <a:off x="4256116" y="2149411"/>
            <a:ext cx="4208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419" sz="1400" u="none" cap="none" strike="noStrik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“Transformamos realidades co-creando soluciones de alto impacto”</a:t>
            </a:r>
            <a:endParaRPr b="0" i="0" sz="1400" u="none" cap="none" strike="noStrike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