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Proxima Nova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regular.fntdata"/><Relationship Id="rId30" Type="http://schemas.openxmlformats.org/officeDocument/2006/relationships/font" Target="fonts/Montserrat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.fntdata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Medium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3a63063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f3a63063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3a6306337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1f3a630633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1909a4f34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c1909a4f3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f3a6306337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1f3a630633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3b1dca743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1f3b1dca7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3b1dca743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1f3b1dca74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f3b1dca743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1f3b1dca7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3b1dca743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1f3b1dca7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3b1dca743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1f3b1dca74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1909a4f34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c1909a4f3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1909a4f3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c1909a4f3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1909a4f34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c1909a4f3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1909a4f34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c1909a4f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303d0aa3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0303d0aa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1909a4f34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c1909a4f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1909a4f34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c1909a4f3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1909a4f34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2c1909a4f3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1909a4f34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c1909a4f3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1909a4f34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2c1909a4f3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0303d0aa36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20303d0aa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f3a6306337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1f3a630633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www.python.org/" TargetMode="External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s://www.python.org/psf-landing/" TargetMode="External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www.python.org/" TargetMode="External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hyperlink" Target="https://github.com/microsoft/vscode" TargetMode="External"/><Relationship Id="rId5" Type="http://schemas.openxmlformats.org/officeDocument/2006/relationships/hyperlink" Target="https://code.visualstudio.com/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www.sublimetext.com/index2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hyperlink" Target="https://www.jetbrains.com/es-es/pycharm/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24.jpg"/><Relationship Id="rId7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39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15" Type="http://schemas.openxmlformats.org/officeDocument/2006/relationships/image" Target="../media/image42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38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35.png"/><Relationship Id="rId19" Type="http://schemas.openxmlformats.org/officeDocument/2006/relationships/image" Target="../media/image40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37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sz="23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lang="es-419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2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Clase 1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PRESENTACIÓN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2125" y="1461700"/>
            <a:ext cx="2685600" cy="22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39350" y="1461699"/>
            <a:ext cx="5164200" cy="20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3300">
                <a:latin typeface="Montserrat"/>
                <a:ea typeface="Montserrat"/>
                <a:cs typeface="Montserrat"/>
                <a:sym typeface="Montserrat"/>
              </a:rPr>
              <a:t>Sergio Garzón</a:t>
            </a:r>
            <a:endParaRPr b="1" sz="3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3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es-419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Desarrollador de Software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s-419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Desarrollador de Videojuegos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es-419" sz="1800">
                <a:latin typeface="Montserrat Medium"/>
                <a:ea typeface="Montserrat Medium"/>
                <a:cs typeface="Montserrat Medium"/>
                <a:sym typeface="Montserrat Medium"/>
              </a:rPr>
              <a:t>Instructor de tecnologías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942750" y="1180675"/>
            <a:ext cx="7197600" cy="3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¿</a:t>
            </a:r>
            <a:r>
              <a:rPr b="1" lang="es-419" sz="1800">
                <a:solidFill>
                  <a:schemeClr val="dk1"/>
                </a:solidFill>
              </a:rPr>
              <a:t>Qué</a:t>
            </a:r>
            <a:r>
              <a:rPr b="1" lang="es-419" sz="1800">
                <a:solidFill>
                  <a:schemeClr val="dk1"/>
                </a:solidFill>
              </a:rPr>
              <a:t> es Python?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Python es un lenguaje de programación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Es actualmente el lenguaje </a:t>
            </a:r>
            <a:r>
              <a:rPr lang="es-419" sz="1800">
                <a:solidFill>
                  <a:schemeClr val="dk1"/>
                </a:solidFill>
              </a:rPr>
              <a:t>más</a:t>
            </a:r>
            <a:r>
              <a:rPr lang="es-419" sz="1800">
                <a:solidFill>
                  <a:schemeClr val="dk1"/>
                </a:solidFill>
              </a:rPr>
              <a:t> utilizado y a su vez el </a:t>
            </a:r>
            <a:r>
              <a:rPr lang="es-419" sz="1800">
                <a:solidFill>
                  <a:schemeClr val="dk1"/>
                </a:solidFill>
              </a:rPr>
              <a:t>más</a:t>
            </a:r>
            <a:r>
              <a:rPr lang="es-419" sz="1800">
                <a:solidFill>
                  <a:schemeClr val="dk1"/>
                </a:solidFill>
              </a:rPr>
              <a:t> popular del mundo.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Es un lenguaje muy codiciado por las empresas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Lenguaje de programación multiplataforma (Windows, Linux, Mac OS, etc)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Es multiparadigma:</a:t>
            </a:r>
            <a:endParaRPr sz="1800"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sz="1800">
                <a:solidFill>
                  <a:schemeClr val="dk1"/>
                </a:solidFill>
              </a:rPr>
              <a:t>Paradigma de programación orientada a objetos</a:t>
            </a:r>
            <a:endParaRPr sz="1800"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sz="1800">
                <a:solidFill>
                  <a:schemeClr val="dk1"/>
                </a:solidFill>
              </a:rPr>
              <a:t>Paradigma de programación imperativa</a:t>
            </a:r>
            <a:endParaRPr sz="1800"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sz="1800">
                <a:solidFill>
                  <a:schemeClr val="dk1"/>
                </a:solidFill>
              </a:rPr>
              <a:t>Paradigma de programación funcional.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958800" y="1275675"/>
            <a:ext cx="7165500" cy="3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¿</a:t>
            </a:r>
            <a:r>
              <a:rPr b="1" lang="es-419" sz="1800">
                <a:solidFill>
                  <a:schemeClr val="dk1"/>
                </a:solidFill>
              </a:rPr>
              <a:t>Qué</a:t>
            </a:r>
            <a:r>
              <a:rPr b="1" lang="es-419" sz="1800">
                <a:solidFill>
                  <a:schemeClr val="dk1"/>
                </a:solidFill>
              </a:rPr>
              <a:t> podemos hacer con Python?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Podemos utilizarlo para la ciencia de datos.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Podemos utilizarlo para Machine Learning.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Podemos hacer desarrollo web Back End (Framework de Django).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Podemos hacer videojuegos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Podemos hacer aplicaciones de escritorio (Librerias Tkinter y PyQT5).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Podemos crear aplicaciones </a:t>
            </a:r>
            <a:r>
              <a:rPr lang="es-419" sz="1800">
                <a:solidFill>
                  <a:schemeClr val="dk1"/>
                </a:solidFill>
              </a:rPr>
              <a:t>móviles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y </a:t>
            </a:r>
            <a:r>
              <a:rPr lang="es-419" sz="1800">
                <a:solidFill>
                  <a:schemeClr val="dk1"/>
                </a:solidFill>
              </a:rPr>
              <a:t>demás</a:t>
            </a:r>
            <a:r>
              <a:rPr lang="es-419" sz="1800">
                <a:solidFill>
                  <a:schemeClr val="dk1"/>
                </a:solidFill>
              </a:rPr>
              <a:t> cosas…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958800" y="1275675"/>
            <a:ext cx="7165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1800">
                <a:solidFill>
                  <a:schemeClr val="dk1"/>
                </a:solidFill>
              </a:rPr>
              <a:t>“Guido van Rossum (Creador de Python)”</a:t>
            </a:r>
            <a:endParaRPr b="1"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By Welcoming Women, Python's Founder Overcomes Closed Minds In Open Source"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7053" y="1875500"/>
            <a:ext cx="3958747" cy="26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INTRODUCCIÓN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 A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958800" y="1275675"/>
            <a:ext cx="7165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Sitio Web: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https://www.python.org/</a:t>
            </a:r>
            <a:r>
              <a:rPr lang="es-419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5300" y="1814450"/>
            <a:ext cx="5242249" cy="27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INTRODUCCIÓN A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834625" y="1275675"/>
            <a:ext cx="74553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¿Quien se encarga del actual desarrollo de Python?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Mantenido por la empresa Python </a:t>
            </a:r>
            <a:r>
              <a:rPr lang="es-419" sz="1800">
                <a:solidFill>
                  <a:schemeClr val="dk1"/>
                </a:solidFill>
              </a:rPr>
              <a:t>Foundations</a:t>
            </a:r>
            <a:r>
              <a:rPr lang="es-419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Sitio web donde vemos información de Python Software Foundations: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https://www.python.org/psf-landing/</a:t>
            </a:r>
            <a:r>
              <a:rPr lang="es-419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1600" y="2370878"/>
            <a:ext cx="4380800" cy="10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834625" y="1275675"/>
            <a:ext cx="74439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Empezar a trabajar con Python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Lo primero que tenemos que hacer para trabajar dicho lenguaje es instalarlo, para ello vamos a su sitio web: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https://www.python.org/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513" y="2724272"/>
            <a:ext cx="6042974" cy="18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834625" y="1275675"/>
            <a:ext cx="7477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Como </a:t>
            </a:r>
            <a:r>
              <a:rPr lang="es-419" sz="1800">
                <a:solidFill>
                  <a:schemeClr val="dk1"/>
                </a:solidFill>
              </a:rPr>
              <a:t>habíamos</a:t>
            </a:r>
            <a:r>
              <a:rPr lang="es-419" sz="1800">
                <a:solidFill>
                  <a:schemeClr val="dk1"/>
                </a:solidFill>
              </a:rPr>
              <a:t> dicho, Python es multiplataforma, en la </a:t>
            </a:r>
            <a:r>
              <a:rPr lang="es-419" sz="1800">
                <a:solidFill>
                  <a:schemeClr val="dk1"/>
                </a:solidFill>
              </a:rPr>
              <a:t>sección</a:t>
            </a:r>
            <a:r>
              <a:rPr lang="es-419" sz="1800">
                <a:solidFill>
                  <a:schemeClr val="dk1"/>
                </a:solidFill>
              </a:rPr>
              <a:t> Download del sitio web, no salen para instalarlo en otros sistemas operativos: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2026" y="2073625"/>
            <a:ext cx="3268800" cy="24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834625" y="1275675"/>
            <a:ext cx="74553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En el caso de windows, en la </a:t>
            </a:r>
            <a:r>
              <a:rPr lang="es-419" sz="1800">
                <a:solidFill>
                  <a:schemeClr val="dk1"/>
                </a:solidFill>
              </a:rPr>
              <a:t>sección</a:t>
            </a:r>
            <a:r>
              <a:rPr lang="es-419" sz="1800">
                <a:solidFill>
                  <a:schemeClr val="dk1"/>
                </a:solidFill>
              </a:rPr>
              <a:t> Download, debemos descargar la última </a:t>
            </a:r>
            <a:r>
              <a:rPr lang="es-419" sz="1800">
                <a:solidFill>
                  <a:schemeClr val="dk1"/>
                </a:solidFill>
              </a:rPr>
              <a:t>versión</a:t>
            </a:r>
            <a:r>
              <a:rPr lang="es-419" sz="1800">
                <a:solidFill>
                  <a:schemeClr val="dk1"/>
                </a:solidFill>
              </a:rPr>
              <a:t> que nos indica: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1500">
                <a:solidFill>
                  <a:schemeClr val="dk1"/>
                </a:solidFill>
              </a:rPr>
              <a:t>Nota: “Consultar manual de instalación en el aula virtual”</a:t>
            </a:r>
            <a:endParaRPr b="1"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6163" y="1963088"/>
            <a:ext cx="5091674" cy="200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EMPEZAR 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834625" y="1275675"/>
            <a:ext cx="74553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Al instalar Python, podemos programar en Python mediante la consola de </a:t>
            </a:r>
            <a:r>
              <a:rPr lang="es-419" sz="1800">
                <a:solidFill>
                  <a:schemeClr val="dk1"/>
                </a:solidFill>
              </a:rPr>
              <a:t>símbolo</a:t>
            </a:r>
            <a:r>
              <a:rPr lang="es-419" sz="1800">
                <a:solidFill>
                  <a:schemeClr val="dk1"/>
                </a:solidFill>
              </a:rPr>
              <a:t> de sistema o </a:t>
            </a:r>
            <a:r>
              <a:rPr lang="es-419" sz="1800">
                <a:solidFill>
                  <a:schemeClr val="dk1"/>
                </a:solidFill>
              </a:rPr>
              <a:t>también</a:t>
            </a:r>
            <a:r>
              <a:rPr lang="es-419" sz="1800">
                <a:solidFill>
                  <a:schemeClr val="dk1"/>
                </a:solidFill>
              </a:rPr>
              <a:t> nos provee de otra consola GUI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1500">
                <a:solidFill>
                  <a:schemeClr val="dk1"/>
                </a:solidFill>
              </a:rPr>
              <a:t>Nota: No se recomienda programar de esta forma, ya que no queda guardado el </a:t>
            </a:r>
            <a:r>
              <a:rPr b="1" i="1" lang="es-419" sz="1500">
                <a:solidFill>
                  <a:schemeClr val="dk1"/>
                </a:solidFill>
              </a:rPr>
              <a:t>código</a:t>
            </a:r>
            <a:r>
              <a:rPr b="1" i="1" lang="es-419" sz="1500">
                <a:solidFill>
                  <a:schemeClr val="dk1"/>
                </a:solidFill>
              </a:rPr>
              <a:t> que realicemos</a:t>
            </a:r>
            <a:endParaRPr b="1"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274" y="2237874"/>
            <a:ext cx="3037950" cy="1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0650" y="2237875"/>
            <a:ext cx="3447824" cy="139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EMPEZAR 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834625" y="1275675"/>
            <a:ext cx="74553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Para poder trabajar desde cualquier parte de nuestro sistema operativo, debemos crear una variable de entorno.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En windows podemos acceder a las variables de entorno y verificar si esta creada: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7588" y="2793175"/>
            <a:ext cx="4628824" cy="16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EMPEZAR 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834625" y="1275675"/>
            <a:ext cx="74553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Para crear la variable de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entorno, podemos consultar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el manual que se encuentra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en el aula virtual y </a:t>
            </a:r>
            <a:r>
              <a:rPr lang="es-419" sz="1800">
                <a:solidFill>
                  <a:schemeClr val="dk1"/>
                </a:solidFill>
              </a:rPr>
              <a:t>también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podemos consultar el video.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054" y="1420050"/>
            <a:ext cx="4423875" cy="29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IDEs PARA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834625" y="1275675"/>
            <a:ext cx="74553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IDE: Integrated </a:t>
            </a:r>
            <a:r>
              <a:rPr lang="es-419" sz="1800">
                <a:solidFill>
                  <a:schemeClr val="dk1"/>
                </a:solidFill>
              </a:rPr>
              <a:t>Development</a:t>
            </a:r>
            <a:r>
              <a:rPr lang="es-419" sz="1800">
                <a:solidFill>
                  <a:schemeClr val="dk1"/>
                </a:solidFill>
              </a:rPr>
              <a:t> </a:t>
            </a:r>
            <a:r>
              <a:rPr lang="es-419" sz="1800">
                <a:solidFill>
                  <a:schemeClr val="dk1"/>
                </a:solidFill>
              </a:rPr>
              <a:t>Environment (“Entorno de desarrollo integrado”)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275" y="2171988"/>
            <a:ext cx="3331150" cy="18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9275" y="2208775"/>
            <a:ext cx="2283125" cy="17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7298" y="2228348"/>
            <a:ext cx="1752700" cy="17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IDEs PARA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834625" y="1275675"/>
            <a:ext cx="74553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Visual Studio Code (VS Code):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Logotipo: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Desarrollado por Microsoft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Lanzado en el año 2015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Repositorio de código: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https://github.com/microsoft/vscode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Sitio web oficial: </a:t>
            </a:r>
            <a:r>
              <a:rPr lang="es-419" sz="1800" u="sng">
                <a:solidFill>
                  <a:schemeClr val="hlink"/>
                </a:solidFill>
                <a:hlinkClick r:id="rId5"/>
              </a:rPr>
              <a:t>https://code.visualstudio.com/</a:t>
            </a:r>
            <a:r>
              <a:rPr lang="es-419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4973" y="2239023"/>
            <a:ext cx="4021049" cy="8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56974" y="1659999"/>
            <a:ext cx="850450" cy="8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IDEs PARA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834625" y="1275675"/>
            <a:ext cx="7455300" cy="29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Sublime Text: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Logotipo: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Desarrollado por Jon Skinner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Lanzado en el año 2008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Sitio web oficial: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https://www.sublimetext.com/index2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3173" y="1745373"/>
            <a:ext cx="778300" cy="7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8574" y="1521025"/>
            <a:ext cx="1930825" cy="21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IDEs PARA TRABAJAR CON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834625" y="1275675"/>
            <a:ext cx="74553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PyCharm</a:t>
            </a:r>
            <a:r>
              <a:rPr b="1" lang="es-419" sz="1800">
                <a:solidFill>
                  <a:schemeClr val="dk1"/>
                </a:solidFill>
              </a:rPr>
              <a:t>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Logotipo: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Desarrollado por JetBrains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País</a:t>
            </a:r>
            <a:r>
              <a:rPr lang="es-419" sz="1800">
                <a:solidFill>
                  <a:schemeClr val="dk1"/>
                </a:solidFill>
              </a:rPr>
              <a:t>: Praga, Republica Checa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1800">
                <a:solidFill>
                  <a:schemeClr val="dk1"/>
                </a:solidFill>
              </a:rPr>
              <a:t>Sitio web oficial: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https://www.jetbrains.com/es-es/pycharm/</a:t>
            </a:r>
            <a:r>
              <a:rPr lang="es-419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1025" y="1707450"/>
            <a:ext cx="835100" cy="8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8100" y="1275675"/>
            <a:ext cx="2524300" cy="25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6284" y="3128975"/>
            <a:ext cx="946225" cy="6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EXTENSIONES DE ARCHIVOS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834625" y="1275675"/>
            <a:ext cx="61818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Extensión .py: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- Esta extensión es para script y otros archivos asociados a programas que han sido codificados en lenguaje Python.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- Vamos a empezar con este tipo de archivos.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Extensión .</a:t>
            </a:r>
            <a:r>
              <a:rPr b="1" lang="es-419" sz="1800">
                <a:solidFill>
                  <a:schemeClr val="dk1"/>
                </a:solidFill>
              </a:rPr>
              <a:t>ipynb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- Significa IPython Notebook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- Son para Notebooks </a:t>
            </a:r>
            <a:r>
              <a:rPr lang="es-419" sz="1800">
                <a:solidFill>
                  <a:schemeClr val="dk1"/>
                </a:solidFill>
              </a:rPr>
              <a:t>Júpiter</a:t>
            </a:r>
            <a:r>
              <a:rPr lang="es-419" sz="1800">
                <a:solidFill>
                  <a:schemeClr val="dk1"/>
                </a:solidFill>
              </a:rPr>
              <a:t> que contienen </a:t>
            </a:r>
            <a:r>
              <a:rPr lang="es-419" sz="1800">
                <a:solidFill>
                  <a:schemeClr val="dk1"/>
                </a:solidFill>
              </a:rPr>
              <a:t>código</a:t>
            </a:r>
            <a:r>
              <a:rPr lang="es-419" sz="1800">
                <a:solidFill>
                  <a:schemeClr val="dk1"/>
                </a:solidFill>
              </a:rPr>
              <a:t> ejecutable, se utilizan bastante en la Ciencia de Datos.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- Lo vamos a ver </a:t>
            </a:r>
            <a:r>
              <a:rPr lang="es-419" sz="1800">
                <a:solidFill>
                  <a:schemeClr val="dk1"/>
                </a:solidFill>
              </a:rPr>
              <a:t>más</a:t>
            </a:r>
            <a:r>
              <a:rPr lang="es-419" sz="1800">
                <a:solidFill>
                  <a:schemeClr val="dk1"/>
                </a:solidFill>
              </a:rPr>
              <a:t> adelante.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4975" y="3221025"/>
            <a:ext cx="1014029" cy="11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4800" y="1636815"/>
            <a:ext cx="1074375" cy="11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EXTENSIONES DE ARCHIVOS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834625" y="1275675"/>
            <a:ext cx="74499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A los archivos de extensión .ipynb que son de notebooks las podemos trabajar con Anaconda - </a:t>
            </a:r>
            <a:r>
              <a:rPr lang="es-419" sz="1800">
                <a:solidFill>
                  <a:schemeClr val="dk1"/>
                </a:solidFill>
              </a:rPr>
              <a:t>Jupyter</a:t>
            </a:r>
            <a:r>
              <a:rPr lang="es-419" sz="1800">
                <a:solidFill>
                  <a:schemeClr val="dk1"/>
                </a:solidFill>
              </a:rPr>
              <a:t>, Google Colab, Deepnote, Visual Studio Code (Extensiones de Python) y con muchas mas herramientas.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875" y="3552600"/>
            <a:ext cx="895925" cy="104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717050"/>
            <a:ext cx="2881475" cy="7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526" y="2464025"/>
            <a:ext cx="1882975" cy="9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1287" y="2428089"/>
            <a:ext cx="2285325" cy="10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45001" y="2389450"/>
            <a:ext cx="2115599" cy="10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3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2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30" name="Google Shape;230;p33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3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3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3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0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